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10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12188952" cy="68580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B5D3"/>
    <a:srgbClr val="F15A24"/>
    <a:srgbClr val="FF0000"/>
    <a:srgbClr val="BB0027"/>
    <a:srgbClr val="B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B69365-A651-43C9-9367-7D9EAD45D71C}" v="1" dt="2026-02-16T16:39:37.9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09" autoAdjust="0"/>
    <p:restoredTop sz="94658"/>
  </p:normalViewPr>
  <p:slideViewPr>
    <p:cSldViewPr snapToGrid="0">
      <p:cViewPr varScale="1">
        <p:scale>
          <a:sx n="132" d="100"/>
          <a:sy n="132" d="100"/>
        </p:scale>
        <p:origin x="160" y="6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9AAF3D2-EDFA-BA42-9460-032E57456FC5}" type="datetimeFigureOut">
              <a:rPr lang="en-US"/>
              <a:pPr>
                <a:defRPr/>
              </a:pPr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3E6B18D-BC97-A741-A494-5A40B396D8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</a:defRPr>
            </a:lvl1pPr>
          </a:lstStyle>
          <a:p>
            <a:pPr>
              <a:defRPr/>
            </a:pPr>
            <a:fld id="{2B24F439-14CB-B64A-A38E-43868DBA8F9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ＭＳ Ｐゴシック" charset="0"/>
        <a:cs typeface="Geneva" pitchFamily="-110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3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6" descr="_Plaid-Digital_FINAL-NEW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6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12" descr="_Plaid-Digital_FINAL-NEW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09314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FE22EB4-74F7-E4D1-DCCA-07234DC454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161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82296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00EFD-6CE2-B612-D139-EDAAC66540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811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39624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1"/>
          </p:nvPr>
        </p:nvSpPr>
        <p:spPr>
          <a:xfrm>
            <a:off x="4727448" y="1212300"/>
            <a:ext cx="3959352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729217-CC38-A012-FDD7-9CCC9EC2C5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828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32766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60960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2AD9AD8-88AE-B053-63EE-556D81195E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11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25654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46736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13"/>
          </p:nvPr>
        </p:nvSpPr>
        <p:spPr>
          <a:xfrm>
            <a:off x="67818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889BB52-C188-E897-0163-57426A3289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064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63EF77A-37AD-9D78-BA5D-4A7736A855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381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509975"/>
            <a:ext cx="822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title style</a:t>
            </a:r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0"/>
            <a:ext cx="8229600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51D83416-00FF-7E42-B8E5-8A7EE0EDCA9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073918" y="64004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DBF4EFE-C980-B844-B5ED-B8094C71D895}"/>
              </a:ext>
            </a:extLst>
          </p:cNvPr>
          <p:cNvSpPr txBox="1">
            <a:spLocks/>
          </p:cNvSpPr>
          <p:nvPr userDrawn="1"/>
        </p:nvSpPr>
        <p:spPr>
          <a:xfrm>
            <a:off x="11226318" y="65528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BE7423C-EEE2-3F45-8EF7-78515AA765E4}"/>
              </a:ext>
            </a:extLst>
          </p:cNvPr>
          <p:cNvSpPr txBox="1">
            <a:spLocks/>
          </p:cNvSpPr>
          <p:nvPr userDrawn="1"/>
        </p:nvSpPr>
        <p:spPr>
          <a:xfrm>
            <a:off x="11378718" y="67052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4C78D2C9-EC69-C447-A43E-74428D9672F5}"/>
              </a:ext>
            </a:extLst>
          </p:cNvPr>
          <p:cNvSpPr txBox="1">
            <a:spLocks/>
          </p:cNvSpPr>
          <p:nvPr userDrawn="1"/>
        </p:nvSpPr>
        <p:spPr>
          <a:xfrm>
            <a:off x="11531118" y="68576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1E7F3-AD6C-224E-BD90-D1A35CEDCAE6}"/>
              </a:ext>
            </a:extLst>
          </p:cNvPr>
          <p:cNvSpPr txBox="1"/>
          <p:nvPr userDrawn="1"/>
        </p:nvSpPr>
        <p:spPr>
          <a:xfrm>
            <a:off x="8640661" y="4823671"/>
            <a:ext cx="503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86CB4B4D-7CA3-9044-876B-883B54F8677D}" type="slidenum">
              <a:rPr lang="en-US" sz="1200" smtClean="0">
                <a:solidFill>
                  <a:schemeClr val="tx1"/>
                </a:solidFill>
                <a:latin typeface="DM Sans 14pt" pitchFamily="2" charset="77"/>
              </a:rPr>
              <a:pPr algn="ctr"/>
              <a:t>‹#›</a:t>
            </a:fld>
            <a:endParaRPr lang="en-US" sz="1200">
              <a:solidFill>
                <a:schemeClr val="tx1"/>
              </a:solidFill>
              <a:latin typeface="DM Sans 14pt" pitchFamily="2" charset="7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>
          <a:solidFill>
            <a:schemeClr val="tx1"/>
          </a:solidFill>
          <a:latin typeface="DM Sans 14pt" pitchFamily="2" charset="77"/>
          <a:ea typeface="Open Sans" charset="0"/>
          <a:cs typeface="Open Sans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9pPr>
    </p:titleStyle>
    <p:bodyStyle>
      <a:lvl1pPr marL="6350" indent="-6350" algn="l" rtl="0" eaLnBrk="1" fontAlgn="base" hangingPunct="1">
        <a:spcBef>
          <a:spcPts val="600"/>
        </a:spcBef>
        <a:spcAft>
          <a:spcPct val="0"/>
        </a:spcAft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1pPr>
      <a:lvl2pPr marL="7429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marL="12001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marL="16573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marL="2057400" indent="-22860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EIA AGENT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1D5DB"/>
                </a:solidFill>
              </a:rPr>
              <a:t>Automated Environmental Impact Assessment via Multi-Agent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97316"/>
                </a:solidFill>
              </a:rPr>
              <a:t>24-880  ·  AI Agents for Engineers  ·  Carnegie Mellon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D5DB"/>
                </a:solidFill>
              </a:rPr>
              <a:t>[ Group Member Names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D5DB"/>
                </a:solidFill>
              </a:rPr>
              <a:t>[ Presentation Date ]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What is NEPA?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National Environmental Policy Act, signed 1970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Requires agencies to assess environmental impact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before approving major federal projects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Screening-level EA: does this need a full EIS?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Full EIS: years of analysis, millions in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Federal Data Sources Queried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B308"/>
                </a:solidFill>
              </a:rPr>
              <a:t>USFWS IPaC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Threatened &amp; endangered species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3172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4048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Natl. Wetlands Inventory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974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Wetland presence &amp; 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2735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FEMA Flood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661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100-yr floodplain boundaries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06908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14223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USDA Soil Survey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348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Prime &amp; unique farmland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93776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01091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EPA EJScreen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303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Environmental justice indicators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20640"/>
            <a:ext cx="5303520" cy="14630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4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NEPA process diagram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Reviews take weeks of expert analyst time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5+ databases · hundreds of regulations · written report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Existing tools are black boxes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Regulators require traceable citations and reasoning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No objective quality metric for AI-generated outputs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How do we know the agent got it right?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Goal:  automate EIA screening with explainable, confidence-aware AI —  fast enough for early-stage planning, rigorous enough for regulatory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78992"/>
            <a:ext cx="2029968" cy="38404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
Project
Parser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688336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1078992"/>
            <a:ext cx="2029968" cy="38404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9776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
Environ.
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472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19472" y="1078992"/>
            <a:ext cx="2029968" cy="38404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
Regulatory
Screening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50608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50608" y="1078992"/>
            <a:ext cx="2029968" cy="38404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
Impact
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1744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81744" y="1078992"/>
            <a:ext cx="2029968" cy="38404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3184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
Report
Synthesis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17520"/>
            <a:ext cx="11064240" cy="27432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30723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D4A5C"/>
                </a:solidFill>
              </a:rPr>
              <a:t>sequential  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46120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35584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React + Vite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374136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SSE streaming UI — real-time status per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67912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776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FastAPI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995928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POST /api/run  →  SSE generator  →  PostgreSQL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89704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59943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LangGraph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617720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Typed state flows through sequential graph nodes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111496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2212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pgvector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5239512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HNSW cosine index for RAG + evaluation 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486400"/>
            <a:ext cx="11064240" cy="11430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7531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Pipeline / Brain Scanner screenshot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1: Project Parser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Converts a plain-English project description into structured metadata used by every downstream agent.  Model: Gemini 2.5 Flash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084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2848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Project name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GPS coordinates  (lat, lon)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Free-text project 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828800"/>
            <a:ext cx="539496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874520"/>
            <a:ext cx="5175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OUTPUTS  (stored as JSONB)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12848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project_type  (highway, solar farm, pipeline…)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scale  (small / medium / large)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location  (city, county, state)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actions  →  column headers in impact matrix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federal_nexus  (triggers NEPA applicability)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06240"/>
            <a:ext cx="11064240" cy="24231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130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Project Parser output — key/value view in IMPORT RUN panel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2: Environmental Data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Queries 5 federal REST APIs using the project's GPS coordinates.  No LLM — pure deterministic API calls.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9072"/>
            <a:ext cx="2066543" cy="36576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USFWS IPaC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Threatened &amp; endangered species in project area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3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06623" y="1719072"/>
            <a:ext cx="2066543" cy="36576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98063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8063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National Wetlands Inventory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3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Wetland polygons, type codes, acreage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6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6046" y="1719072"/>
            <a:ext cx="2066543" cy="36576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6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6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FEMA Flood Hazard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6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Zone designations (AE, X…) and SFHA flag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05469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05469" y="1719072"/>
            <a:ext cx="2066543" cy="36576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09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09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USDA Web Soil Survey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09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Prime / unique farmland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54892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54892" y="1719072"/>
            <a:ext cx="2066543" cy="365760"/>
          </a:xfrm>
          <a:prstGeom prst="rect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46332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46332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</a:rPr>
              <a:t>EPA EJScreen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2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Minority %, low-income %, pollution percentiles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13308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97316"/>
                </a:solidFill>
              </a:rPr>
              <a:t>Partial failures handled gracefully — missing data lowers confidence score (not a crash).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617720"/>
            <a:ext cx="11064240" cy="20116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318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Environmental Data output — API response cards in IMPORT RUN panel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3: Regulatory Screening  (RAG)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Retrieves applicable regulations using vector similarity search over an indexed corpus of federal CFR parts and state codes.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9928"/>
            <a:ext cx="5084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INGESTION  (offline)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48256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Upload PDFs via /api/regulations/sources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Or fetch live eCFR XML by title + part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Chunk → embed → pgvector (HNSW cosine index)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Sources scoped to a specific 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64208"/>
            <a:ext cx="539496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09928"/>
            <a:ext cx="5175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RETRIEVAL  (at run time)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48256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Embed project context as query vector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Top-K similarity search over project's sources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LLM identifies triggered regulations from chunks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Output: name · citation · jurisdiction · why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80560"/>
            <a:ext cx="11064240" cy="384048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4456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Model: claude-haiku-4-5   ·   Embeddings: text-embedding-3-small   ·   Vector DB: pgvector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83480"/>
            <a:ext cx="11064240" cy="16459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0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Regulatory Screening output — regulation cards in IMPORT RUN panel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4: Impact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Populates a significance matrix: every project action × every environmental resource category, governed by the applicable regulation.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6856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Site Prep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77056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41064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Construction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1264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Operation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31136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2231136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76856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77056" y="2231136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41064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2231136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05272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706624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Endangered Spp.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2848" y="2706624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76856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77056" y="2706624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41064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41264" y="2706624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2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182112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182112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76856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056" y="3182112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41064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41264" y="3182112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05272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657600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Air Quality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12848" y="3657600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76856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77056" y="3657600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41064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41264" y="3657600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05272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42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Scale: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71600" y="4288536"/>
            <a:ext cx="146304" cy="146304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7276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4288536"/>
            <a:ext cx="146304" cy="146304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2724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0" y="4288536"/>
            <a:ext cx="146304" cy="146304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8172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4288536"/>
            <a:ext cx="146304" cy="146304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620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171907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Each cell contains: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5200" y="2084831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52360" y="2130551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significance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52360" y="2386583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significant / moderate / minimal / none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0" y="2779775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52360" y="282549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confidence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52360" y="3081527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0.0 – 1.0  (see next slide)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3474719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52360" y="3520439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1D5DB"/>
                </a:solidFill>
              </a:rPr>
              <a:t>reasoning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52360" y="3776471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1–2 sentence explanation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15200" y="4169663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52360" y="4215383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mitigation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52360" y="447141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avoidance / minimization / compensatory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15200" y="4864607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52360" y="4910327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needs_review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52360" y="5166359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True when confidence &lt; 0.60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440680"/>
            <a:ext cx="6400800" cy="11887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" y="57302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Impact matrix — color-coded significance table from a real run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Confidence Score Tiers  (Impact Analysis Agent)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The LLM assigns a confidence score to each matrix cell based on data availability and regulatory specificity.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11064240" cy="347472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93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6093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093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DATA?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609344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WHAT IT MEANS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20240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0665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0.85–1.0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08483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2084832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Yes — quantified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011680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API returned specific data AND regulation has explicit numeric thresholds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78608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249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3"/>
                </a:solidFill>
              </a:rPr>
              <a:t>0.65–0.84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74320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GOOD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2743200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Yes — general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670048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API data present but regulatory threshold is a judgment call (no explicit number)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236976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B308"/>
                </a:solidFill>
              </a:rPr>
              <a:t>0.45–0.64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40156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340156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Partial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3328416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Some APIs errored / empty, or regulation is tangentially related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95344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0416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7316"/>
                </a:solidFill>
              </a:rPr>
              <a:t>0.25–0.44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05993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4059936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986784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 direct data — determination relies on general domain knowledge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553712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70001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0.00–0.24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471830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VERY 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58768" y="4718304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645152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Pure extrapolation — no supporting data or regulatory context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303520"/>
            <a:ext cx="11064240" cy="438912"/>
          </a:xfrm>
          <a:prstGeom prst="rect">
            <a:avLst/>
          </a:prstGeom>
          <a:solidFill>
            <a:srgbClr val="3B1A1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358384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needs_review = True  when  confidence &lt; 0.60  →  cell is highlighted in the UI for human expert review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870448"/>
            <a:ext cx="11064240" cy="7772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9542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Impact matrix UI — needs_review cells highlighted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5: Report Synthesis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Generates a 10-section NEPA Environmental Assessment narrative.  Sections 1–7: LLM-written with inline citations.  Sections 8–10: templated.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1.  Project Description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2.  Purpose and Need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3.  Alternatives Analysis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4.  Affected Environment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5.  Environmental Consequences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6.  Cumulative Impacts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7.  Mitigation Measures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8.  Regulatory Compliance Summary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9.  Agency Coordination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10. References &amp; Data Sources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97680"/>
            <a:ext cx="11064240" cy="384048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616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Model: Gemini 2.5 Flash   ·   Every statement cites the regulation and federal data source that drove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28032"/>
            <a:ext cx="11064240" cy="18288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4376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Report Synthesis output — sectioned narrative in IMPORT RUN panel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Evaluation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Upload a published EIS document for the same project.  Score the agent's impact matrix against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27632"/>
            <a:ext cx="2103120" cy="38404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1.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User uploads a
published EIS PDF
for a saved 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8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61488" y="1627632"/>
            <a:ext cx="2103120" cy="38404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8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2. 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PDF chunked,
embedded, stored
in pgvector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76" y="1627632"/>
            <a:ext cx="2103120" cy="38404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3.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LLM reads chunks
→ ground truth:
category + significance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4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70064" y="1627632"/>
            <a:ext cx="2103120" cy="38404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4.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Agent matrix vs.
ground truth →
3 metrics computed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4352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74352" y="1627632"/>
            <a:ext cx="2103120" cy="38404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65792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5.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Per-category
TP / FP / FN
breakdown shown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1091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97316"/>
                </a:solidFill>
              </a:rPr>
              <a:t>Ground truth extraction is cached — runs once per EIS document, not per scoring request.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757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Evaluation page — upload panel + score bars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Results — Agent Outputs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78992"/>
            <a:ext cx="2103120" cy="36576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Project
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project_type: "highway"
actions: ["grading","paving"]
federal_nexus: 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61488" y="1078992"/>
            <a:ext cx="2103120" cy="36576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Environ.
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1216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Species: Indiana bat
Wetlands: 4.2 ac PEM1C
FEMA: Zone AE
Farmland: Prime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65776" y="1078992"/>
            <a:ext cx="2103120" cy="36576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8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Regulatory
Screening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CWA §404 — Wetlands
ESA §7 — Species
EO 11990 — Floodplain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4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70064" y="1078992"/>
            <a:ext cx="2103120" cy="36576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6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Impact
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wetlands × grading:
  sig: significant
  conf: 0.82
  review: false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74352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74352" y="1078992"/>
            <a:ext cx="2103120" cy="36576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B308"/>
                </a:solidFill>
              </a:rPr>
              <a:t>Report
Synthesis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"4.2 ac of PEM1C wetland
intersects the 100-yr
floodplain (Zone AE)…"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11064240" cy="2487168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9930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IMPORT RUN panel — all 5 agents expanded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Results — Evaluation Scores  (mock 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Overall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161288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161288"/>
            <a:ext cx="3423513" cy="27432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11247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78%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099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Category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728216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728216"/>
            <a:ext cx="3291840" cy="27432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6916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0.75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7685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295144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2295144"/>
            <a:ext cx="3642969" cy="27432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2585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0.83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8437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2862072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0" y="2862072"/>
            <a:ext cx="2940710" cy="27432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28254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0.67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4107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Significance 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3429000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0" y="3429000"/>
            <a:ext cx="3555187" cy="27432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339242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B308"/>
                </a:solidFill>
              </a:rPr>
              <a:t>0.81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776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Semantic Coverage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995928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0" y="3995928"/>
            <a:ext cx="3160166" cy="274320"/>
          </a:xfrm>
          <a:prstGeom prst="rect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39593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9560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PER-CATEGORY BREAKDOWN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03520"/>
            <a:ext cx="6355080" cy="256032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534009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35224" y="534009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Label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58184" y="5340096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38344" y="5340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Ground Truth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559552"/>
            <a:ext cx="6355080" cy="173736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57784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5224" y="557784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58184" y="557784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significant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38344" y="557784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significant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42432"/>
            <a:ext cx="6355080" cy="173736"/>
          </a:xfrm>
          <a:prstGeom prst="rect">
            <a:avLst/>
          </a:prstGeom>
          <a:solidFill>
            <a:srgbClr val="1F28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" y="576072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35224" y="576072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58184" y="576072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38344" y="576072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925312"/>
            <a:ext cx="6355080" cy="173736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4" y="594360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endangered_species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35224" y="594360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</a:rPr>
              <a:t>FP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58184" y="594360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significant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8344" y="594360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6108192"/>
            <a:ext cx="6355080" cy="173736"/>
          </a:xfrm>
          <a:prstGeom prst="rect">
            <a:avLst/>
          </a:prstGeom>
          <a:solidFill>
            <a:srgbClr val="1F28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" y="612648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prime_farmland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5224" y="612648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B308"/>
                </a:solidFill>
              </a:rPr>
              <a:t>FN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58184" y="612648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none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38344" y="612648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291072"/>
            <a:ext cx="6355080" cy="173736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" y="630936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environmental_justice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24" y="630936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58184" y="630936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38344" y="630936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06640" y="1051560"/>
            <a:ext cx="4572000" cy="55778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35356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Evaluation panel screenshot — score bars + methodology modal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</a:rPr>
              <a:t>Results — How Scores Are Calculated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005840"/>
            <a:ext cx="3566160" cy="50292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424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CATEGORY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170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× 0.40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3346704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8 fixed categories evaluated: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wetlands · air_quality · noise · traffic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env. justice · species · floodplain · farmland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TP  agent flagged  AND  EIS confirms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FP  agent flagged  BUT  EIS says none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FN  EIS confirms   BUT  agent missed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Precision = TP / (TP+FP)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Recall    = TP / (TP+FN)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F1 = 2·P·R / (P+R)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005840"/>
            <a:ext cx="3566160" cy="50292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0424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SIGNIFICANCE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1170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× 0.40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572768"/>
            <a:ext cx="3346704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Ordinal significance scale: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significant = 3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moderate    = 2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minimal     = 1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none        = 0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For each matched category: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|diff| = 0  →  1.0  (exact match)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|diff| = 1  →  0.5  (off by one)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|diff| ≥ 2  →  0.0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Score = mean across all pairs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005840"/>
            <a:ext cx="3566160" cy="50292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0424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SEMANTIC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1170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× 0.20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1572768"/>
            <a:ext cx="3346704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Measures: does the agent's reasoning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align with the actual EIS text?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Up to 10 reasoning snippets embedded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→ cosine similarity vs. EIS chunks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score = mean(max cosine similarity)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      over all reasoning snippets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No LLM — pure vector math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on pre-stored embeddings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7316"/>
                </a:solidFill>
              </a:rPr>
              <a:t>OVERALL  =  (F1 × 0.40)  +  (Significance Accuracy × 0.40)  +  (Semantic Coverage × 0.20)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5084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CURRENT SHORTCOMINGS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Ground truth is LLM-extracted, not annotated by humans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LLM misread of EIS → inflated scores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Only 8 fixed categories scored (F1 scope)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Project-specific impacts invisible to metric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Semantic similarity ≠ factual accuracy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Style match can score high without correct reasoning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LLM non-determinism — same run, different 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05840"/>
            <a:ext cx="539496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051560"/>
            <a:ext cx="5175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FUTURE IMPROVEMENTS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89888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Human-annotated ground truth corpus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Domain experts review LLM extractions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Dynamic category set per project type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Replace 8 fixed with project-driven taxonomy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LLM-as-Judge for reasoning quality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Separate evaluator scores each reasoning chain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Run-level repeatability tracking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97316"/>
                </a:solidFill>
              </a:rPr>
              <a:t>▸ Weeks → minutes  for NEPA screening-level review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5 agents: parse · data · regulations · matrix · report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Every cell cites the regulation and data behind it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97316"/>
                </a:solidFill>
              </a:rPr>
              <a:t>▸ Confidence-aware — flags uncertainty for human review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5-tier model tied to actual data quality (not vibes)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97316"/>
                </a:solidFill>
              </a:rPr>
              <a:t>▸ Quantitatively evaluated against real EIS documents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F1 + Significance Accuracy + Semantic Coverage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Per-category TP/FP/FN breakdown guides improvement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11064240" cy="384048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3270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Future:  human-annotated GT  ·  dynamic categories  ·  LLM-as-Judge  ·  multi-project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MU PPT Theme">
  <a:themeElements>
    <a:clrScheme name="Figma">
      <a:dk1>
        <a:srgbClr val="000000"/>
      </a:dk1>
      <a:lt1>
        <a:srgbClr val="FFFFFF"/>
      </a:lt1>
      <a:dk2>
        <a:srgbClr val="1F2833"/>
      </a:dk2>
      <a:lt2>
        <a:srgbClr val="E5E7EB"/>
      </a:lt2>
      <a:accent1>
        <a:srgbClr val="F97316"/>
      </a:accent1>
      <a:accent2>
        <a:srgbClr val="EF4444"/>
      </a:accent2>
      <a:accent3>
        <a:srgbClr val="EAB308"/>
      </a:accent3>
      <a:accent4>
        <a:srgbClr val="22C55E"/>
      </a:accent4>
      <a:accent5>
        <a:srgbClr val="06B6D3"/>
      </a:accent5>
      <a:accent6>
        <a:srgbClr val="D946EF"/>
      </a:accent6>
      <a:hlink>
        <a:srgbClr val="3B82F6"/>
      </a:hlink>
      <a:folHlink>
        <a:srgbClr val="A855F7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62817F12-EA18-574E-90B7-E96DCC192F96}" vid="{D134E728-AEC4-1C41-A8F9-44315560EBB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237</Words>
  <Application>Microsoft Macintosh PowerPoint</Application>
  <PresentationFormat>On-screen Show (16:9)</PresentationFormat>
  <Paragraphs>45</Paragraphs>
  <Slides>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ＭＳ Ｐゴシック</vt:lpstr>
      <vt:lpstr>.AppleSystemUIFont</vt:lpstr>
      <vt:lpstr>45 Helvetica Light</vt:lpstr>
      <vt:lpstr>Arial</vt:lpstr>
      <vt:lpstr>DM Sans 14pt</vt:lpstr>
      <vt:lpstr>Open Sans</vt:lpstr>
      <vt:lpstr>Open Sans Light</vt:lpstr>
      <vt:lpstr>Open Sans Regular</vt:lpstr>
      <vt:lpstr>Times</vt:lpstr>
      <vt:lpstr>CMU PPT Theme</vt:lpstr>
      <vt:lpstr>PowerPoint Presentation</vt:lpstr>
      <vt:lpstr>Background</vt:lpstr>
      <vt:lpstr>Problem Statement</vt:lpstr>
      <vt:lpstr>Methodology</vt:lpstr>
      <vt:lpstr>Results</vt:lpstr>
      <vt:lpstr>Discussion</vt:lpstr>
      <vt:lpstr>Conclusion</vt:lpstr>
      <vt:lpstr>Example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Pak</dc:creator>
  <cp:lastModifiedBy>Peter Pak</cp:lastModifiedBy>
  <cp:revision>1</cp:revision>
  <cp:lastPrinted>2016-12-06T18:52:42Z</cp:lastPrinted>
  <dcterms:created xsi:type="dcterms:W3CDTF">2026-04-03T15:47:07Z</dcterms:created>
  <dcterms:modified xsi:type="dcterms:W3CDTF">2026-04-03T15:58:01Z</dcterms:modified>
</cp:coreProperties>
</file>