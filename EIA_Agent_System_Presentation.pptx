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10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12188952" cy="6858000" type="screen16x9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B5D3"/>
    <a:srgbClr val="F15A24"/>
    <a:srgbClr val="FF0000"/>
    <a:srgbClr val="BB0027"/>
    <a:srgbClr val="B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B69365-A651-43C9-9367-7D9EAD45D71C}" v="1" dt="2026-02-16T16:39:37.9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09" autoAdjust="0"/>
    <p:restoredTop sz="94658"/>
  </p:normalViewPr>
  <p:slideViewPr>
    <p:cSldViewPr snapToGrid="0">
      <p:cViewPr varScale="1">
        <p:scale>
          <a:sx n="132" d="100"/>
          <a:sy n="132" d="100"/>
        </p:scale>
        <p:origin x="160" y="6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Open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Open Sans" charset="0"/>
              </a:defRPr>
            </a:lvl1pPr>
          </a:lstStyle>
          <a:p>
            <a:pPr>
              <a:defRPr/>
            </a:pPr>
            <a:fld id="{59AAF3D2-EDFA-BA42-9460-032E57456FC5}" type="datetimeFigureOut">
              <a:rPr lang="en-US"/>
              <a:pPr>
                <a:defRPr/>
              </a:pPr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Open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Open Sans" charset="0"/>
              </a:defRPr>
            </a:lvl1pPr>
          </a:lstStyle>
          <a:p>
            <a:pPr>
              <a:defRPr/>
            </a:pPr>
            <a:fld id="{53E6B18D-BC97-A741-A494-5A40B396D8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aseline="0">
                <a:latin typeface="Open Sans" charset="0"/>
              </a:defRPr>
            </a:lvl1pPr>
          </a:lstStyle>
          <a:p>
            <a:pPr>
              <a:defRPr/>
            </a:pPr>
            <a:fld id="{2B24F439-14CB-B64A-A38E-43868DBA8F9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ＭＳ Ｐゴシック" charset="0"/>
        <a:cs typeface="Geneva" pitchFamily="-110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pPr>
              <a:defRPr/>
            </a:pPr>
            <a:endParaRPr lang="x-none" altLang="x-none">
              <a:latin typeface="Open Sans Regular" charset="0"/>
            </a:endParaRPr>
          </a:p>
        </p:txBody>
      </p:sp>
      <p:pic>
        <p:nvPicPr>
          <p:cNvPr id="3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6" descr="_Plaid-Digital_FINAL-NEW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37" t="23988" r="4771" b="1990"/>
          <a:stretch>
            <a:fillRect/>
          </a:stretch>
        </p:blipFill>
        <p:spPr bwMode="auto"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5"/>
          <p:cNvSpPr>
            <a:spLocks noChangeArrowheads="1"/>
          </p:cNvSpPr>
          <p:nvPr userDrawn="1"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pPr>
              <a:defRPr/>
            </a:pPr>
            <a:endParaRPr lang="x-none" altLang="x-none">
              <a:latin typeface="Open Sans Regular" charset="0"/>
            </a:endParaRPr>
          </a:p>
        </p:txBody>
      </p:sp>
      <p:pic>
        <p:nvPicPr>
          <p:cNvPr id="6" name="Pictur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12" descr="_Plaid-Digital_FINAL-NEW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37" t="23988" r="4771" b="1990"/>
          <a:stretch>
            <a:fillRect/>
          </a:stretch>
        </p:blipFill>
        <p:spPr bwMode="auto"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09314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FE22EB4-74F7-E4D1-DCCA-07234DC454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161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82296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00EFD-6CE2-B612-D139-EDAAC66540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8111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39624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1"/>
          </p:nvPr>
        </p:nvSpPr>
        <p:spPr>
          <a:xfrm>
            <a:off x="4727448" y="1212300"/>
            <a:ext cx="3959352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729217-CC38-A012-FDD7-9CCC9EC2C5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828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32766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2"/>
          </p:nvPr>
        </p:nvSpPr>
        <p:spPr>
          <a:xfrm>
            <a:off x="60960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2AD9AD8-88AE-B053-63EE-556D81195E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110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25654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2"/>
          </p:nvPr>
        </p:nvSpPr>
        <p:spPr>
          <a:xfrm>
            <a:off x="46736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13"/>
          </p:nvPr>
        </p:nvSpPr>
        <p:spPr>
          <a:xfrm>
            <a:off x="67818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889BB52-C188-E897-0163-57426A3289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064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63EF77A-37AD-9D78-BA5D-4A7736A855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381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509975"/>
            <a:ext cx="822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title style</a:t>
            </a:r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0"/>
            <a:ext cx="8229600" cy="350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text styles</a:t>
            </a:r>
          </a:p>
          <a:p>
            <a:pPr lvl="1"/>
            <a:r>
              <a:rPr lang="en-US" altLang="x-none"/>
              <a:t>Second level</a:t>
            </a:r>
          </a:p>
          <a:p>
            <a:pPr lvl="2"/>
            <a:r>
              <a:rPr lang="en-US" altLang="x-none"/>
              <a:t>Third level</a:t>
            </a:r>
          </a:p>
          <a:p>
            <a:pPr lvl="3"/>
            <a:r>
              <a:rPr lang="en-US" altLang="x-none"/>
              <a:t>Fourth level</a:t>
            </a:r>
          </a:p>
          <a:p>
            <a:pPr lvl="4"/>
            <a:r>
              <a:rPr lang="en-US" altLang="x-none"/>
              <a:t>Fifth level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51D83416-00FF-7E42-B8E5-8A7EE0EDCA9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073918" y="64004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DBF4EFE-C980-B844-B5ED-B8094C71D895}"/>
              </a:ext>
            </a:extLst>
          </p:cNvPr>
          <p:cNvSpPr txBox="1">
            <a:spLocks/>
          </p:cNvSpPr>
          <p:nvPr userDrawn="1"/>
        </p:nvSpPr>
        <p:spPr>
          <a:xfrm>
            <a:off x="11226318" y="65528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BE7423C-EEE2-3F45-8EF7-78515AA765E4}"/>
              </a:ext>
            </a:extLst>
          </p:cNvPr>
          <p:cNvSpPr txBox="1">
            <a:spLocks/>
          </p:cNvSpPr>
          <p:nvPr userDrawn="1"/>
        </p:nvSpPr>
        <p:spPr>
          <a:xfrm>
            <a:off x="11378718" y="67052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4C78D2C9-EC69-C447-A43E-74428D9672F5}"/>
              </a:ext>
            </a:extLst>
          </p:cNvPr>
          <p:cNvSpPr txBox="1">
            <a:spLocks/>
          </p:cNvSpPr>
          <p:nvPr userDrawn="1"/>
        </p:nvSpPr>
        <p:spPr>
          <a:xfrm>
            <a:off x="11531118" y="68576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1E7F3-AD6C-224E-BD90-D1A35CEDCAE6}"/>
              </a:ext>
            </a:extLst>
          </p:cNvPr>
          <p:cNvSpPr txBox="1"/>
          <p:nvPr userDrawn="1"/>
        </p:nvSpPr>
        <p:spPr>
          <a:xfrm>
            <a:off x="8640661" y="4823671"/>
            <a:ext cx="503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86CB4B4D-7CA3-9044-876B-883B54F8677D}" type="slidenum">
              <a:rPr lang="en-US" sz="1200" smtClean="0">
                <a:solidFill>
                  <a:schemeClr val="tx1"/>
                </a:solidFill>
                <a:latin typeface="DM Sans 14pt" pitchFamily="2" charset="77"/>
              </a:rPr>
              <a:pPr algn="ctr"/>
              <a:t>‹#›</a:t>
            </a:fld>
            <a:endParaRPr lang="en-US" sz="1200">
              <a:solidFill>
                <a:schemeClr val="tx1"/>
              </a:solidFill>
              <a:latin typeface="DM Sans 14pt" pitchFamily="2" charset="7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>
          <a:solidFill>
            <a:schemeClr val="tx1"/>
          </a:solidFill>
          <a:latin typeface="DM Sans 14pt" pitchFamily="2" charset="77"/>
          <a:ea typeface="Open Sans" charset="0"/>
          <a:cs typeface="Open Sans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9pPr>
    </p:titleStyle>
    <p:bodyStyle>
      <a:lvl1pPr marL="6350" indent="-6350" algn="l" rtl="0" eaLnBrk="1" fontAlgn="base" hangingPunct="1">
        <a:spcBef>
          <a:spcPts val="600"/>
        </a:spcBef>
        <a:spcAft>
          <a:spcPct val="0"/>
        </a:spcAft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1pPr>
      <a:lvl2pPr marL="7429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Arial" charset="0"/>
        <a:buChar char="•"/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2pPr>
      <a:lvl3pPr marL="12001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.AppleSystemUIFont" charset="-120"/>
        <a:buChar char="–"/>
        <a:defRPr sz="1400" i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3pPr>
      <a:lvl4pPr marL="16573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Arial" charset="0"/>
        <a:buChar char="•"/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4pPr>
      <a:lvl5pPr marL="2057400" indent="-228600" algn="l" rtl="0" eaLnBrk="1" fontAlgn="base" hangingPunct="1">
        <a:spcBef>
          <a:spcPts val="600"/>
        </a:spcBef>
        <a:spcAft>
          <a:spcPct val="0"/>
        </a:spcAft>
        <a:buSzPct val="110000"/>
        <a:buFont typeface=".AppleSystemUIFont" charset="-120"/>
        <a:buChar char="–"/>
        <a:defRPr sz="1400" i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55448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EIA AGENT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5E7EB"/>
                </a:solidFill>
              </a:rPr>
              <a:t>Automated Environmental Impact Assessment via Multi-Agent AI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97316"/>
                </a:solidFill>
              </a:rPr>
              <a:t>24-880  AI Agents for Engineers  |  Carnegie Mellon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5E7EB"/>
                </a:solidFill>
              </a:rPr>
              <a:t>[ Group Member Name(s)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5E7EB"/>
                </a:solidFill>
              </a:rPr>
              <a:t>[ Presentation Date ]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5E7EB"/>
                </a:solidFill>
              </a:rPr>
              <a:t>Environmental review is a legal prerequisite for major infrastructure projects in the United States.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National Environmental Policy Act (NEPA)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Signed 1970 — applies to all major federal actions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Requires agencies to evaluate environmental consequences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Two-tier review: Environmental Assessment (EA) + full EIS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Environmental Assessment (EA)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Screening-level review: does this project need a full EIS?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Involves querying federal environmental databases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Applies applicable federal and state regulations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Produces written impact determinations by resource category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▸ Environmental Impact Statement (EIS)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Full-scale analysis required when EA finds significant impacts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Can take 2–5 years and cost millions of dollars</a:t>
            </a:r>
          </a:p>
          <a:p>
            <a:pPr lvl="1">
              <a:spcBef>
                <a:spcPts val="200"/>
              </a:spcBef>
            </a:pPr>
            <a:r>
              <a:rPr sz="1300" b="0">
                <a:solidFill>
                  <a:srgbClr val="E5E7EB"/>
                </a:solidFill>
              </a:rPr>
              <a:t>    · Publicly available — used as ground truth in this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KEY FEDERAL DATA 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920240"/>
            <a:ext cx="5303520" cy="777240"/>
          </a:xfrm>
          <a:prstGeom prst="rect">
            <a:avLst/>
          </a:prstGeom>
          <a:solidFill>
            <a:srgbClr val="2D3748"/>
          </a:solidFill>
          <a:ln w="1524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7510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USFWS IPaC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40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Threatened &amp; endangered species by location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788920"/>
            <a:ext cx="5303520" cy="777240"/>
          </a:xfrm>
          <a:prstGeom prst="rect">
            <a:avLst/>
          </a:prstGeom>
          <a:solidFill>
            <a:srgbClr val="2D3748"/>
          </a:solidFill>
          <a:ln w="1524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84378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National Wetlands Inventory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Wetland presence, type, and acreage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657600"/>
            <a:ext cx="5303520" cy="777240"/>
          </a:xfrm>
          <a:prstGeom prst="rect">
            <a:avLst/>
          </a:prstGeom>
          <a:solidFill>
            <a:srgbClr val="2D374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7124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FEMA National Flood Hazard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100- and 500-year floodplain boundaries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4526280"/>
            <a:ext cx="5303520" cy="777240"/>
          </a:xfrm>
          <a:prstGeom prst="rect">
            <a:avLst/>
          </a:prstGeom>
          <a:solidFill>
            <a:srgbClr val="2D3748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58114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USDA Farmland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846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Prime and unique farmland parcels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394960"/>
            <a:ext cx="5303520" cy="777240"/>
          </a:xfrm>
          <a:prstGeom prst="rect">
            <a:avLst/>
          </a:prstGeom>
          <a:solidFill>
            <a:srgbClr val="2D3748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54498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EPA EJScreen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715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Environmental justice + demographic indicators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Environmental reviews are a bottleneck for infrastructure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NEPA EA requires querying 5+ federal databases per project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Analysts must screen hundreds of regulations for applicability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Writing impact determinations with citations takes weeks of expert time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Existing tools don't explain their reasoning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Black-box outputs cannot be used in regulatory proceedings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Agencies require traceable citations and data-backed determinations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Reviewing agencies need to audit how each conclusion was reached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There is no objective quality metric for AI-generated EIA outputs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How do we know if the agent identified the right impacts?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No existing benchmark — real EIS documents must serve as ground truth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97316"/>
                </a:solidFill>
              </a:rPr>
              <a:t>▸ Goal: automate EIA screening with explainable, confidence-aware AI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Reduce time from weeks to minutes; preserve full regulatory traceability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Flag low-confidence cells for human review — keep experts in the loop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Evaluate agent quality against real EIS documents quantitatively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A LangGraph sequential pipeline orchestrates 5 specialized agents, each with typed inputs/outputs, streamed in real-time to a React frontend via Server-Sent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2029968" cy="1371600"/>
          </a:xfrm>
          <a:prstGeom prst="rect">
            <a:avLst/>
          </a:prstGeom>
          <a:solidFill>
            <a:srgbClr val="2D374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2029968" cy="41148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8470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1  PROJECT
PARSER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88336" y="1691640"/>
            <a:ext cx="2029968" cy="1371600"/>
          </a:xfrm>
          <a:prstGeom prst="rect">
            <a:avLst/>
          </a:prstGeom>
          <a:solidFill>
            <a:srgbClr val="2D3748"/>
          </a:solidFill>
          <a:ln w="254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88336" y="1691640"/>
            <a:ext cx="2029968" cy="41148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6" y="1737360"/>
            <a:ext cx="18470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2  ENVIRONMENTAL
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9472" y="1691640"/>
            <a:ext cx="2029968" cy="1371600"/>
          </a:xfrm>
          <a:prstGeom prst="rect">
            <a:avLst/>
          </a:prstGeom>
          <a:solidFill>
            <a:srgbClr val="2D374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19472" y="1691640"/>
            <a:ext cx="2029968" cy="41148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10912" y="1737360"/>
            <a:ext cx="18470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3  REGULATORY
SCREENING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1691640"/>
            <a:ext cx="2029968" cy="1371600"/>
          </a:xfrm>
          <a:prstGeom prst="rect">
            <a:avLst/>
          </a:prstGeom>
          <a:solidFill>
            <a:srgbClr val="2D3748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50608" y="1691640"/>
            <a:ext cx="2029968" cy="41148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2048" y="1737360"/>
            <a:ext cx="18470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4  IMPACT
ANALYSIS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81744" y="1691640"/>
            <a:ext cx="2029968" cy="1371600"/>
          </a:xfrm>
          <a:prstGeom prst="rect">
            <a:avLst/>
          </a:prstGeom>
          <a:solidFill>
            <a:srgbClr val="2D3748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1691640"/>
            <a:ext cx="2029968" cy="41148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3184" y="1737360"/>
            <a:ext cx="18470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5  REPORT
SYNTHESIS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546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─────────────────────────────────────── sequential flow ───────────────────────────────────────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337560"/>
            <a:ext cx="11109960" cy="475488"/>
          </a:xfrm>
          <a:prstGeom prst="rect">
            <a:avLst/>
          </a:prstGeom>
          <a:solidFill>
            <a:srgbClr val="2D374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3924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React Frontend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10712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SSE streaming · real-time status dots · cost tracking · Brain Scanner log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67912"/>
            <a:ext cx="11109960" cy="475488"/>
          </a:xfrm>
          <a:prstGeom prst="rect">
            <a:avLst/>
          </a:prstGeom>
          <a:solidFill>
            <a:srgbClr val="2D3748"/>
          </a:solidFill>
          <a:ln w="127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227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FastAPI Backend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941064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POST /api/run → state machine → SSE generator yields per-agent events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98264"/>
            <a:ext cx="11109960" cy="475488"/>
          </a:xfrm>
          <a:prstGeom prst="rect">
            <a:avLst/>
          </a:prstGeom>
          <a:solidFill>
            <a:srgbClr val="2D374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4531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LangGraph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471416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Typed EIAPipelineState flows through sequential graph nodes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28616"/>
            <a:ext cx="11109960" cy="475488"/>
          </a:xfrm>
          <a:prstGeom prst="rect">
            <a:avLst/>
          </a:prstGeom>
          <a:solidFill>
            <a:srgbClr val="2D3748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83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PostgreSQL + pgvector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500176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Agent outputs stored as JSONB · HNSW index for RAG similarity 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458968"/>
            <a:ext cx="11109960" cy="475488"/>
          </a:xfrm>
          <a:prstGeom prst="rect">
            <a:avLst/>
          </a:prstGeom>
          <a:solidFill>
            <a:srgbClr val="2D3748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5138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LLM Providers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53212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OpenAI · Anthropic · Ollama — switchable via env vars, no code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1: Project Parser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54864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Parses a natural-language project description and GPS coordinates into a structured metadata object that all downstream agents consume. Uses an LLM (Gemini 2.5 Flash) to extract semantic fields from free-form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PROCESSING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1.  parse_description — LLM reads free-form project text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2.  extract_metadata — structured fields extracted via JSON schema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3.  geocode_coordinates — GPS coordinates validated and formatted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078992"/>
            <a:ext cx="5852160" cy="2468880"/>
          </a:xfrm>
          <a:prstGeom prst="rect">
            <a:avLst/>
          </a:prstGeom>
          <a:solidFill>
            <a:srgbClr val="2D3748"/>
          </a:solidFill>
          <a:ln w="127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17043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444752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project_name (string)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coordinates (lat, lon string)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description (free-form natural language)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3685032"/>
            <a:ext cx="5852160" cy="2468880"/>
          </a:xfrm>
          <a:prstGeom prst="rect">
            <a:avLst/>
          </a:prstGeom>
          <a:solidFill>
            <a:srgbClr val="2D374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37764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OUTPUTS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4050792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project_type  (e.g. 'highway', 'pipeline', 'solar farm')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scale  (small / medium / large)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location  (city, county, state)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actions  (list of distinct project activities)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duration  (construction + operation timeline)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federal_nexus  (boolean — triggers NEPA applicability)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97316"/>
                </a:solidFill>
              </a:rPr>
              <a:t>⚑  Output feeds the impact matrix column headers (project actions) and scopes all downstream API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2: Environmental Data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54864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Queries 5 federal environmental REST APIs using the GPS coordinates from the Project Parser. This is the only non-LLM agent — pure API orchestration with structured response parsing.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PROCESSING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1.  query_usfws — USFWS IPaC API, species by bounding box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2.  query_nwi — National Wetlands Inventory WMS/WFS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3.  query_fema — FEMA National Flood Hazard Layer REST API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4.  query_farmland — USDA Web Soil Survey spatial API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5.  query_ejscreen — EPA EJScreen REST API by census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078992"/>
            <a:ext cx="5852160" cy="2468880"/>
          </a:xfrm>
          <a:prstGeom prst="rect">
            <a:avLst/>
          </a:prstGeom>
          <a:solidFill>
            <a:srgbClr val="2D3748"/>
          </a:solidFill>
          <a:ln w="127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17043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444752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coordinates (from Project Parser output)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project_type (to determine buffer radii)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3685032"/>
            <a:ext cx="5852160" cy="2468880"/>
          </a:xfrm>
          <a:prstGeom prst="rect">
            <a:avLst/>
          </a:prstGeom>
          <a:solidFill>
            <a:srgbClr val="2D3748"/>
          </a:solidFill>
          <a:ln w="127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37764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OUTPUTS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4050792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USFWS IPaC — threatened &amp; endangered species list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NWI — wetland polygons within project footprint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FEMA NFHL — flood zone designations (AE, X, etc.)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USDA — prime farmland and unique farmland presence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EJScreen — demographic percentiles, pollution burden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97316"/>
                </a:solidFill>
              </a:rPr>
              <a:t>⚑  No LLM used — deterministic API calls. API errors are caught per-source; partial results still flow downstream.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3: Regulatory Screening (RAG)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54864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Retrieves applicable NEPA regulations using Retrieval-Augmented Generation (RAG) over an indexed corpus of federal CFR parts and state environmental codes.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530352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6479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INGESTION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21408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1">
                <a:solidFill>
                  <a:srgbClr val="FFFFFF"/>
                </a:solidFill>
              </a:rPr>
              <a:t>▸ PDF uploads via /api/regulations/sources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E5E7EB"/>
                </a:solidFill>
              </a:rPr>
              <a:t>    · Federal CFR/statute PDFs, Pennsylvania Code</a:t>
            </a:r>
          </a:p>
          <a:p>
            <a:pPr>
              <a:spcBef>
                <a:spcPts val="300"/>
              </a:spcBef>
            </a:pPr>
            <a:r>
              <a:rPr sz="1400" b="1">
                <a:solidFill>
                  <a:srgbClr val="FFFFFF"/>
                </a:solidFill>
              </a:rPr>
              <a:t>▸ eCFR live XML via /api/regulations/sources/ecfr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E5E7EB"/>
                </a:solidFill>
              </a:rPr>
              <a:t>    · Versioner API fetches any CFR title+part by date</a:t>
            </a:r>
          </a:p>
          <a:p>
            <a:pPr>
              <a:spcBef>
                <a:spcPts val="300"/>
              </a:spcBef>
            </a:pPr>
            <a:r>
              <a:rPr sz="1400" b="1">
                <a:solidFill>
                  <a:srgbClr val="FFFFFF"/>
                </a:solidFill>
              </a:rPr>
              <a:t>▸ Parsed → chunked → embedded → pgvector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E5E7EB"/>
                </a:solidFill>
              </a:rPr>
              <a:t>    · HNSW cosine index for sub-millisecond ANN retrieval</a:t>
            </a:r>
          </a:p>
          <a:p>
            <a:pPr>
              <a:spcBef>
                <a:spcPts val="300"/>
              </a:spcBef>
            </a:pPr>
            <a:r>
              <a:rPr sz="1400" b="1">
                <a:solidFill>
                  <a:srgbClr val="FFFFFF"/>
                </a:solidFill>
              </a:rPr>
              <a:t>▸ Sources assigned to specific projects via UI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E5E7EB"/>
                </a:solidFill>
              </a:rPr>
              <a:t>    · Agent restricts retrieval to project-assigned sources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30352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6479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RUNTIME RETRIEVAL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21408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1">
                <a:solidFill>
                  <a:srgbClr val="FFFFFF"/>
                </a:solidFill>
              </a:rPr>
              <a:t>▸ Project context string embedded by LLM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>    · Top-K similarity search scoped to project sources</a:t>
            </a:r>
          </a:p>
          <a:p>
            <a:pPr>
              <a:spcBef>
                <a:spcPts val="300"/>
              </a:spcBef>
            </a:pPr>
            <a:r>
              <a:rPr sz="1400" b="1">
                <a:solidFill>
                  <a:srgbClr val="E5E7EB"/>
                </a:solidFill>
              </a:rPr>
              <a:t>▸ Falls back to all sources if none assigned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>    · LLM reasons over chunks → identifies regulations</a:t>
            </a:r>
          </a:p>
          <a:p>
            <a:pPr>
              <a:spcBef>
                <a:spcPts val="300"/>
              </a:spcBef>
            </a:pPr>
            <a:r>
              <a:rPr sz="1400" b="1">
                <a:solidFill>
                  <a:srgbClr val="E5E7EB"/>
                </a:solidFill>
              </a:rPr>
              <a:t>▸ Outputs name, citation, jurisdiction, why triggered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>    · Result feeds directly into Impact Analysis prompt</a:t>
            </a:r>
          </a:p>
          <a:p>
            <a:pPr>
              <a:spcBef>
                <a:spcPts val="300"/>
              </a:spcBef>
            </a:pPr>
            <a:r>
              <a:rPr sz="1400" b="1">
                <a:solidFill>
                  <a:srgbClr val="E5E7EB"/>
                </a:solidFill>
              </a:rPr>
              <a:t>▸ Every impact cell carries explicit regulation citation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Model: claude-haiku-4-5  ·  Embedding: text-embedding-3-small  ·  Vector DB: pgvector (HNSW cosine index)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4: Impact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54864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Populates a significance matrix across all (project action × resource category) pairs. Each cell carries a significance determination, confidence score, reasoning, and mitigation options.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55648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810512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Category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755648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2888" y="1810512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Site Prep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755648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1810512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Construction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55648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810512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Operation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76272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31136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Wetlands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2176272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2888" y="2231136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2176272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8" y="2231136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176272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231136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596896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651760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Endangered Spp.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8880" y="2596896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2888" y="2651760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2596896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3128" y="2651760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596896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2651760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017520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3072384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Floodplain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68880" y="3017520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32888" y="3072384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0" y="3017520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3128" y="3072384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3017520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73368" y="3072384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438144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349300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Air Quality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68880" y="3438144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32888" y="349300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3438144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53128" y="349300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438144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73368" y="349300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3858768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913632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Env. Justice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8880" y="3858768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32888" y="3913632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120" y="3858768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53128" y="3913632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3858768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913632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4279392"/>
            <a:ext cx="1892808" cy="402336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2648" y="4334256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Prime Farmland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68880" y="4279392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32888" y="4334256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89120" y="4279392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53128" y="4334256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4279392"/>
            <a:ext cx="1892808" cy="402336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73368" y="4334256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47731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Significance: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920240" y="4818888"/>
            <a:ext cx="146304" cy="146304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21408" y="47731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337560" y="4818888"/>
            <a:ext cx="146304" cy="146304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38728" y="47731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54880" y="4818888"/>
            <a:ext cx="146304" cy="146304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56048" y="47731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72200" y="4818888"/>
            <a:ext cx="146304" cy="146304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73368" y="47731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21040" y="175564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PER-CELL FIELDS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321040" y="2103120"/>
            <a:ext cx="3566160" cy="566928"/>
          </a:xfrm>
          <a:prstGeom prst="rect">
            <a:avLst/>
          </a:prstGeom>
          <a:solidFill>
            <a:srgbClr val="2D3748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12480" y="213969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significance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12480" y="2395728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significant | moderate | minimal | none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24912"/>
            <a:ext cx="3566160" cy="566928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0" y="276148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B308"/>
                </a:solidFill>
              </a:rPr>
              <a:t>confidence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0" y="3017520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0.0 – 1.0  (see confidence tiers)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21040" y="3346704"/>
            <a:ext cx="3566160" cy="566928"/>
          </a:xfrm>
          <a:prstGeom prst="rect">
            <a:avLst/>
          </a:prstGeom>
          <a:solidFill>
            <a:srgbClr val="2D3748"/>
          </a:solidFill>
          <a:ln w="1016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0" y="3383280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5E7EB"/>
                </a:solidFill>
              </a:rPr>
              <a:t>reasoning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0" y="3639312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1–2 sentence explanation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21040" y="3968496"/>
            <a:ext cx="3566160" cy="566928"/>
          </a:xfrm>
          <a:prstGeom prst="rect">
            <a:avLst/>
          </a:prstGeom>
          <a:solidFill>
            <a:srgbClr val="2D3748"/>
          </a:solidFill>
          <a:ln w="1016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0" y="400507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mitigation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4261104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avoidance | minimization | compensatory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1040" y="4590288"/>
            <a:ext cx="3566160" cy="566928"/>
          </a:xfrm>
          <a:prstGeom prst="rect">
            <a:avLst/>
          </a:prstGeom>
          <a:solidFill>
            <a:srgbClr val="2D3748"/>
          </a:solidFill>
          <a:ln w="1016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0" y="4626864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needs_review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12480" y="4882896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True when confidence &lt; 0.60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5212080"/>
            <a:ext cx="3566160" cy="566928"/>
          </a:xfrm>
          <a:prstGeom prst="rect">
            <a:avLst/>
          </a:prstGeom>
          <a:solidFill>
            <a:srgbClr val="2D3748"/>
          </a:solidFill>
          <a:ln w="1016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412480" y="524865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framework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5504688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Governing regulation citation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647395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97316"/>
                </a:solidFill>
              </a:rPr>
              <a:t>Steps:  build_context (compile upstream data) → evaluate_determinations (LLM) → validate_matrix (flag low-confidence)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5: Report Synthesis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54864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B308"/>
                </a:solidFill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Generates a full NEPA Environmental Assessment narrative (10 sections) from all upstream agent outputs. Sections 1–7 are LLM-generated with inline citations; Sections 8–10 are templated from the impact matrix.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B308"/>
                </a:solidFill>
              </a:rPr>
              <a:t>PROCESSING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1.  compile_findings — aggregate all upstream state fields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2.  generate_report — LLM writes Sections 1–7 with citations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E5E7EB"/>
                </a:solidFill>
              </a:rPr>
              <a:t>  3.  format_output — template Sections 8–10 from impact matrix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078992"/>
            <a:ext cx="5852160" cy="2468880"/>
          </a:xfrm>
          <a:prstGeom prst="rect">
            <a:avLst/>
          </a:prstGeom>
          <a:solidFill>
            <a:srgbClr val="2D3748"/>
          </a:solidFill>
          <a:ln w="127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17043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444752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parsed_project (from Agent 1)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environmental_data — API results (from Agent 2)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regulations — applicable regulation list (from Agent 3)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impact_matrix — significance × confidence cells (from Agent 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3685032"/>
            <a:ext cx="5852160" cy="2468880"/>
          </a:xfrm>
          <a:prstGeom prst="rect">
            <a:avLst/>
          </a:prstGeom>
          <a:solidFill>
            <a:srgbClr val="2D3748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37764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B308"/>
                </a:solidFill>
              </a:rPr>
              <a:t>OUTPUTS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4050792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1: Project Description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2: Purpose and Need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3: Alternatives Analysis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4: Affected Environment (per resource category)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5: Environmental Consequences (per impact cell)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6: Cumulative Impacts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7: Mitigation Measures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8: Regulatory Compliance Summary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9: Agency Coordination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E5E7EB"/>
                </a:solidFill>
              </a:rPr>
              <a:t>· Section 10: References and Data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97316"/>
                </a:solidFill>
              </a:rPr>
              <a:t>⚑  Full DOCX-ready output. Every impact statement cites the regulation and federal data source that drove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Evaluation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E7EB"/>
                </a:solidFill>
              </a:rPr>
              <a:t>How do we know the agent is correct? Upload a real published EIS document and score the pipeline's impact matrix against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27632"/>
            <a:ext cx="2103120" cy="411480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27632"/>
            <a:ext cx="2103120" cy="38404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STEP 1: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188366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User uploads a published EIS PDF linked to a saved project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8" y="1627632"/>
            <a:ext cx="2103120" cy="411480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61488" y="1627632"/>
            <a:ext cx="2103120" cy="38404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8" y="169164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STEP 2: 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2103120"/>
            <a:ext cx="188366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PDF parsed into numbered sections, chunked, embedded into pgvector
(evaluation_chunks table with HNSW cosine index)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76" y="1627632"/>
            <a:ext cx="2103120" cy="411480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5776" y="1627632"/>
            <a:ext cx="2103120" cy="38404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69164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STEP 3: 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2103120"/>
            <a:ext cx="188366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LLM reads EIS chunks → extracts ground truth: category name, significance, evidence quote.
Cached — runs once per document (not per scoring request)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4" y="1627632"/>
            <a:ext cx="2103120" cy="411480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70064" y="1627632"/>
            <a:ext cx="2103120" cy="38404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169164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STEP 4: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103120"/>
            <a:ext cx="188366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Agent impact matrix compared to ground truth.
3 metrics computed: Category F1, Significance Accuracy, Semantic Coverage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4352" y="1627632"/>
            <a:ext cx="2103120" cy="411480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74352" y="1627632"/>
            <a:ext cx="2103120" cy="38404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65792" y="169164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STEP 5: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103120"/>
            <a:ext cx="188366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Per-category breakdown: TP/FP/FN labels, agent sig vs. GT sig,
matched EIS category name, GT evidence quote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852160"/>
            <a:ext cx="5303520" cy="8229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09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FIGURE: EIS upload panel + status pills (PENDING / EMBEDDING / READY)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5852160"/>
            <a:ext cx="5577840" cy="8229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60096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FIGURE: Evaluate panel — score bars + per-category breakdown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Results — Agent Outputs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Each of the 5 agents produces a typed, structured output stored in PostgreSQL (JSONB) and rendered in the IMPORT RUN panel with type-aware views.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2103120" cy="448056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103120" cy="347472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55064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PROJECT PARSER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0824"/>
            <a:ext cx="1883664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project_type: "highway"
actions: ["grading","paving","drainage"]
federal_nexus: true
scale: "large"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8" y="1600200"/>
            <a:ext cx="2103120" cy="448056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61488" y="1600200"/>
            <a:ext cx="2103120" cy="347472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655064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ENV.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2020824"/>
            <a:ext cx="1883664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usfws: ["Indiana bat","Northern long-eared bat"]
nwi: [{"type":"PEM1C","acres":4.2}]
fema: "Zone AE"
farmland: "Prime"
ejs_pctile: 72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76" y="1600200"/>
            <a:ext cx="2103120" cy="448056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5776" y="1600200"/>
            <a:ext cx="2103120" cy="347472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1655064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REG. SCREENING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2020824"/>
            <a:ext cx="1883664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name: "Section 7 ESA"
jurisdiction: "federal"
citation: "16 U.S.C. §1536"
why: "Indiana bat present in project area"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4" y="1600200"/>
            <a:ext cx="2103120" cy="44805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70064" y="1600200"/>
            <a:ext cx="2103120" cy="34747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3216" y="1655064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IMPACT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020824"/>
            <a:ext cx="1883664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cells[wetlands×grading]:
  significance: "significant"
  confidence: 0.82
  needs_review: false
  framework: "Clean Water Act §404"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4352" y="1600200"/>
            <a:ext cx="2103120" cy="448056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74352" y="1600200"/>
            <a:ext cx="2103120" cy="347472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47504" y="1655064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REPORT SYNTHESIS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020824"/>
            <a:ext cx="1883664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Section 4 — Affected Environment:
"The project corridor intersects 4.2 acres of
palustrine emergent wetland (PEM1C) within
the 100-year floodplain (Zone AE)..."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1925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FIGURE: IMPORT RUN panel showing all 5 agent output sections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Results — Evaluation Outputs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After running EVALUATE, the system returns six labeled scores and a per-category breakdown table. Results are persisted in evaluation_scores and auto-loaded on next visit.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Overall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709928"/>
            <a:ext cx="502920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40" y="1709928"/>
            <a:ext cx="3922776" cy="27432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6733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78%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9514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Category 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313432"/>
            <a:ext cx="502920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313432"/>
            <a:ext cx="3771900" cy="27432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22768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0.75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8986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2916936"/>
            <a:ext cx="502920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34640" y="2916936"/>
            <a:ext cx="4174236" cy="27432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88036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0.83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021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3520440"/>
            <a:ext cx="502920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34640" y="3520440"/>
            <a:ext cx="3369564" cy="27432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348386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0.67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0565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Significance Accuracy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4123944"/>
            <a:ext cx="502920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34640" y="4123944"/>
            <a:ext cx="4073652" cy="27432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40873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B308"/>
                </a:solidFill>
              </a:rPr>
              <a:t>0.81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09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Semantic Coverage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4727448"/>
            <a:ext cx="502920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34640" y="4727448"/>
            <a:ext cx="3621024" cy="274320"/>
          </a:xfrm>
          <a:prstGeom prst="rect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46908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0.72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2297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PER-CATEGORY BREAKDOWN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852160"/>
            <a:ext cx="11064240" cy="256032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888736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5888736"/>
            <a:ext cx="868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Label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5888736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Agent Sig.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888736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GT Sig.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5888736"/>
            <a:ext cx="5806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Matched EIS Category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6108192"/>
            <a:ext cx="11064240" cy="14630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117336"/>
            <a:ext cx="1874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wetlands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6117336"/>
            <a:ext cx="8686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6117336"/>
            <a:ext cx="11430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significant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6117336"/>
            <a:ext cx="9601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significant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6117336"/>
            <a:ext cx="58064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Wetlands and Waterways (§4.2.1)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6263640"/>
            <a:ext cx="11064240" cy="146304"/>
          </a:xfrm>
          <a:prstGeom prst="rect">
            <a:avLst/>
          </a:prstGeom>
          <a:solidFill>
            <a:srgbClr val="1F28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6272784"/>
            <a:ext cx="1874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floodplain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6272784"/>
            <a:ext cx="8686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6272784"/>
            <a:ext cx="11430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272784"/>
            <a:ext cx="9601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moderate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6272784"/>
            <a:ext cx="58064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Floodplain Management (§4.3)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6419088"/>
            <a:ext cx="11064240" cy="14630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6428232"/>
            <a:ext cx="1874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endangered_species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6428232"/>
            <a:ext cx="8686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</a:rPr>
              <a:t>FP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3280" y="6428232"/>
            <a:ext cx="11430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significant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6428232"/>
            <a:ext cx="9601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none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6428232"/>
            <a:ext cx="58064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— (no EIS category matched)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6574536"/>
            <a:ext cx="11064240" cy="146304"/>
          </a:xfrm>
          <a:prstGeom prst="rect">
            <a:avLst/>
          </a:prstGeom>
          <a:solidFill>
            <a:srgbClr val="1F28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6583680"/>
            <a:ext cx="1874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prime_farmland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68880" y="6583680"/>
            <a:ext cx="8686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B308"/>
                </a:solidFill>
              </a:rPr>
              <a:t>FN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3280" y="6583680"/>
            <a:ext cx="11430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none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6583680"/>
            <a:ext cx="9601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moderate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77840" y="6583680"/>
            <a:ext cx="58064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Agricultural Resources (§4.5.2)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8640" y="6729984"/>
            <a:ext cx="11064240" cy="14630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6739128"/>
            <a:ext cx="18745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environmental_justice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68880" y="6739128"/>
            <a:ext cx="8686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80" y="6739128"/>
            <a:ext cx="11430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moderate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0" y="6739128"/>
            <a:ext cx="9601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moderate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6739128"/>
            <a:ext cx="58064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</a:rPr>
              <a:t>Environmental Justice (§4.8)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12480" y="1600200"/>
            <a:ext cx="3566160" cy="3749039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03920" y="322071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97316"/>
                </a:solidFill>
              </a:rPr>
              <a:t>[ FIGURE: Actual evaluation scores panel screenshot from the app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</a:rPr>
              <a:t>Results — How Each Metric Is Calculated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566160" cy="5166360"/>
          </a:xfrm>
          <a:prstGeom prst="rect">
            <a:avLst/>
          </a:prstGeom>
          <a:solidFill>
            <a:srgbClr val="2D374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005840"/>
            <a:ext cx="3566160" cy="438912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698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CATEGORY F1  ×0.40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17904"/>
            <a:ext cx="32918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8 agent-designed categories:
wetlands · air_quality · noise · traffic
environmental_justice · endangered_species
floodplain · prime_farmland
TP: agent flagged AND EIS confirms impact
FP: agent flagged BUT EIS has no impact
FN: EIS has impact, agent did not flag
Precision = TP / (TP+FP)
Recall    = TP / (TP+FN)
F1 = 2·P·R / (P+R)
EIS categories outside the 8 agent categories are NOT counted against F1.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005840"/>
            <a:ext cx="3566160" cy="5166360"/>
          </a:xfrm>
          <a:prstGeom prst="rect">
            <a:avLst/>
          </a:prstGeom>
          <a:solidFill>
            <a:srgbClr val="2D374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005840"/>
            <a:ext cx="3566160" cy="438912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0698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SIGNIFICANCE ACCURACY  ×0.40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17904"/>
            <a:ext cx="32918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Ordinal scale:
  significant = 3
  moderate    = 2
  minimal     = 1
  none        = 0
For each matched (agent, GT) pair:
  |diff| = 0  →  1.0 (exact)
  |diff| = 1  →  0.5 (off by one level)
  |diff| ≥ 2  →  0.0
Score = mean across all matched pairs
Partial credit for near-miss significance
calls avoids all-or-nothing binary scoring.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005840"/>
            <a:ext cx="3566160" cy="5166360"/>
          </a:xfrm>
          <a:prstGeom prst="rect">
            <a:avLst/>
          </a:prstGeom>
          <a:solidFill>
            <a:srgbClr val="2D3748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005840"/>
            <a:ext cx="3566160" cy="438912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0698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SEMANTIC COVERAGE  ×0.20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1517904"/>
            <a:ext cx="32918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Up to 10 agent reasoning snippets
are embedded and compared against
stored EIS chunks via cosine similarity.
max_sim = argmax cosine(snippet, chunk)
over all EIS chunks for that evaluation
Score = mean max_sim over all snippets
Measures: does the agent's written
reasoning actually align with what
the real EIS document says?
No LLM used — pure vector math on
existing stored embeddings (fast).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7316"/>
                </a:solidFill>
              </a:rPr>
              <a:t>OVERALL  =  (Category F1 × 0.40)  +  (Significance Accuracy × 0.40)  +  (Semantic Coverage × 0.20)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CURRENT SHORTCOMINGS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Ground truth is LLM-extracted, not human-annotated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LLM misread of EIS → corrupted GT → inflated scores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Only 8 hardcoded categories evaluated (F1 scope)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Project-specific impacts (cultural resources, noise) invisible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F1 is binary — partial detection gets no credit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Same concern under a different label = FP + FN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Significance accuracy uses coarse ordinal scale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'Significant' is jurisdiction- and project-specific in practice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Semantic coverage ≠ factual correctness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Style match can produce high cosine similarity without accurate reasoning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LLM non-determinism: same run may score differently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No run-level repeatability metric currently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05840"/>
            <a:ext cx="5303520" cy="365760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0241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FUTURE IMPROVEMENTS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Human-in-the-loop ground truth annotation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Domain experts verify LLM extractions → validated GT corpus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Dynamic category set per project type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Replace 8 fixed categories with project-driven taxonomy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LLM-as-Judge for reasoning quality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Separate evaluator LLM scores reasoning chains, not just hits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Multi-document ensembling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Average GT across multiple EIS docs for same project type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Confidence calibration curves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Track whether high-confidence cells are more accurate over time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Citation verification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Verify cited regulations actually contain the claimed thresholds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</a:rPr>
              <a:t>▸ Run-level repeatability score</a:t>
            </a:r>
          </a:p>
          <a:p>
            <a:pPr lvl="1">
              <a:spcBef>
                <a:spcPts val="100"/>
              </a:spcBef>
            </a:pPr>
            <a:r>
              <a:rPr sz="1300" b="0">
                <a:solidFill>
                  <a:srgbClr val="E5E7EB"/>
                </a:solidFill>
              </a:rPr>
              <a:t>  · Multi-run variance tracking to quantify LLM non-determinism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18288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F97316"/>
                </a:solidFill>
              </a:rPr>
              <a:t>▸ Automated NEPA screening from weeks to minutes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5-agent pipeline covers data gathering, regulatory RAG, impact analysis, and report writing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Full traceability: every impact cell cites the regulation and data that drove it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Switchable LLM providers (OpenAI, Anthropic, Ollama) with no code changes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97316"/>
                </a:solidFill>
              </a:rPr>
              <a:t>▸ Confidence-aware — not a black box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5-tier confidence model anchored to data quality and regulatory specificity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Cells below 0.6 confidence are automatically flagged for human expert review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97316"/>
                </a:solidFill>
              </a:rPr>
              <a:t>▸ Quantitative evaluation against real EIS documents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3-metric scoring: Category F1, Significance Accuracy, Semantic Coverage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Ground truth extraction cached — re-scoring is fast and low-cost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Per-category TP/FP/FN breakdown supports targeted agent improvement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FFFFFF"/>
                </a:solidFill>
              </a:rPr>
              <a:t>▸ Future Work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Human-annotated GT corpus · dynamic category taxonomy · LLM-as-Judge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Multi-project comparison dashboard · automated agency submission integration</a:t>
            </a:r>
          </a:p>
          <a:p>
            <a:pPr lvl="1">
              <a:spcBef>
                <a:spcPts val="200"/>
              </a:spcBef>
            </a:pPr>
            <a:r>
              <a:rPr sz="1400" b="0">
                <a:solidFill>
                  <a:srgbClr val="E5E7EB"/>
                </a:solidFill>
              </a:rPr>
              <a:t>    · Expand from screening-level EA to full EIS generation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MU PPT Theme">
  <a:themeElements>
    <a:clrScheme name="Figma">
      <a:dk1>
        <a:srgbClr val="000000"/>
      </a:dk1>
      <a:lt1>
        <a:srgbClr val="FFFFFF"/>
      </a:lt1>
      <a:dk2>
        <a:srgbClr val="1F2833"/>
      </a:dk2>
      <a:lt2>
        <a:srgbClr val="E5E7EB"/>
      </a:lt2>
      <a:accent1>
        <a:srgbClr val="F97316"/>
      </a:accent1>
      <a:accent2>
        <a:srgbClr val="EF4444"/>
      </a:accent2>
      <a:accent3>
        <a:srgbClr val="EAB308"/>
      </a:accent3>
      <a:accent4>
        <a:srgbClr val="22C55E"/>
      </a:accent4>
      <a:accent5>
        <a:srgbClr val="06B6D3"/>
      </a:accent5>
      <a:accent6>
        <a:srgbClr val="D946EF"/>
      </a:accent6>
      <a:hlink>
        <a:srgbClr val="3B82F6"/>
      </a:hlink>
      <a:folHlink>
        <a:srgbClr val="A855F7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45 Helvetica Light" pitchFamily="-110" charset="0"/>
            <a:ea typeface="Geneva" pitchFamily="-110" charset="-128"/>
            <a:cs typeface="Geneva" pitchFamily="-11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45 Helvetica Light" pitchFamily="-110" charset="0"/>
            <a:ea typeface="Geneva" pitchFamily="-110" charset="-128"/>
            <a:cs typeface="Geneva" pitchFamily="-110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62817F12-EA18-574E-90B7-E96DCC192F96}" vid="{D134E728-AEC4-1C41-A8F9-44315560EBB3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237</Words>
  <Application>Microsoft Macintosh PowerPoint</Application>
  <PresentationFormat>On-screen Show (16:9)</PresentationFormat>
  <Paragraphs>45</Paragraphs>
  <Slides>8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ＭＳ Ｐゴシック</vt:lpstr>
      <vt:lpstr>.AppleSystemUIFont</vt:lpstr>
      <vt:lpstr>45 Helvetica Light</vt:lpstr>
      <vt:lpstr>Arial</vt:lpstr>
      <vt:lpstr>DM Sans 14pt</vt:lpstr>
      <vt:lpstr>Open Sans</vt:lpstr>
      <vt:lpstr>Open Sans Light</vt:lpstr>
      <vt:lpstr>Open Sans Regular</vt:lpstr>
      <vt:lpstr>Times</vt:lpstr>
      <vt:lpstr>CMU PPT Theme</vt:lpstr>
      <vt:lpstr>PowerPoint Presentation</vt:lpstr>
      <vt:lpstr>Background</vt:lpstr>
      <vt:lpstr>Problem Statement</vt:lpstr>
      <vt:lpstr>Methodology</vt:lpstr>
      <vt:lpstr>Results</vt:lpstr>
      <vt:lpstr>Discussion</vt:lpstr>
      <vt:lpstr>Conclusion</vt:lpstr>
      <vt:lpstr>Example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Pak</dc:creator>
  <cp:lastModifiedBy>Peter Pak</cp:lastModifiedBy>
  <cp:revision>1</cp:revision>
  <cp:lastPrinted>2016-12-06T18:52:42Z</cp:lastPrinted>
  <dcterms:created xsi:type="dcterms:W3CDTF">2026-04-03T15:47:07Z</dcterms:created>
  <dcterms:modified xsi:type="dcterms:W3CDTF">2026-04-03T15:58:01Z</dcterms:modified>
</cp:coreProperties>
</file>