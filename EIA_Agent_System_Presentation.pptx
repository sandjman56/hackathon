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810" r:id="rId1"/>
  </p:sldMasterIdLst>
  <p:notesMasterIdLst>
    <p:notesMasterId r:id="rId10"/>
  </p:notesMasterIdLst>
  <p:handoutMasterIdLst>
    <p:handoutMasterId r:id="rId11"/>
  </p:handoutMasterIdLst>
  <p:sldIdLst>
    <p:sldId id="256" r:id="rId17"/>
    <p:sldId id="257" r:id="rId18"/>
    <p:sldId id="258" r:id="rId19"/>
    <p:sldId id="259" r:id="rId20"/>
    <p:sldId id="260" r:id="rId21"/>
    <p:sldId id="261" r:id="rId22"/>
    <p:sldId id="262" r:id="rId23"/>
    <p:sldId id="263" r:id="rId24"/>
    <p:sldId id="264" r:id="rId25"/>
    <p:sldId id="265" r:id="rId26"/>
    <p:sldId id="266" r:id="rId27"/>
    <p:sldId id="267" r:id="rId28"/>
    <p:sldId id="268" r:id="rId29"/>
  </p:sldIdLst>
  <p:sldSz cx="9144000" cy="5143500" type="screen16x9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45 Helvetica Light" charset="0"/>
        <a:ea typeface="ＭＳ Ｐゴシック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45 Helvetica Light" charset="0"/>
        <a:ea typeface="ＭＳ Ｐゴシック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45 Helvetica Light" charset="0"/>
        <a:ea typeface="ＭＳ Ｐゴシック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45 Helvetica Light" charset="0"/>
        <a:ea typeface="ＭＳ Ｐゴシック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45 Helvetica Light" charset="0"/>
        <a:ea typeface="ＭＳ Ｐゴシック" charset="-128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45 Helvetica Light" charset="0"/>
        <a:ea typeface="ＭＳ Ｐゴシック" charset="-128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45 Helvetica Light" charset="0"/>
        <a:ea typeface="ＭＳ Ｐゴシック" charset="-128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45 Helvetica Light" charset="0"/>
        <a:ea typeface="ＭＳ Ｐゴシック" charset="-128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45 Helvetica Light" charset="0"/>
        <a:ea typeface="ＭＳ Ｐゴシック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B5D3"/>
    <a:srgbClr val="F15A24"/>
    <a:srgbClr val="FF0000"/>
    <a:srgbClr val="BB0027"/>
    <a:srgbClr val="BB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3B69365-A651-43C9-9367-7D9EAD45D71C}" v="1" dt="2026-02-16T16:39:37.91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009" autoAdjust="0"/>
    <p:restoredTop sz="94658"/>
  </p:normalViewPr>
  <p:slideViewPr>
    <p:cSldViewPr snapToGrid="0">
      <p:cViewPr varScale="1">
        <p:scale>
          <a:sx n="132" d="100"/>
          <a:sy n="132" d="100"/>
        </p:scale>
        <p:origin x="160" y="62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handoutMaster" Target="handoutMasters/handout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microsoft.com/office/2015/10/relationships/revisionInfo" Target="revisionInfo.xml"/><Relationship Id="rId17" Type="http://schemas.openxmlformats.org/officeDocument/2006/relationships/slide" Target="slides/slide1.xml"/><Relationship Id="rId18" Type="http://schemas.openxmlformats.org/officeDocument/2006/relationships/slide" Target="slides/slide2.xml"/><Relationship Id="rId19" Type="http://schemas.openxmlformats.org/officeDocument/2006/relationships/slide" Target="slides/slide3.xml"/><Relationship Id="rId20" Type="http://schemas.openxmlformats.org/officeDocument/2006/relationships/slide" Target="slides/slide4.xml"/><Relationship Id="rId21" Type="http://schemas.openxmlformats.org/officeDocument/2006/relationships/slide" Target="slides/slide5.xml"/><Relationship Id="rId22" Type="http://schemas.openxmlformats.org/officeDocument/2006/relationships/slide" Target="slides/slide6.xml"/><Relationship Id="rId23" Type="http://schemas.openxmlformats.org/officeDocument/2006/relationships/slide" Target="slides/slide7.xml"/><Relationship Id="rId24" Type="http://schemas.openxmlformats.org/officeDocument/2006/relationships/slide" Target="slides/slide8.xml"/><Relationship Id="rId25" Type="http://schemas.openxmlformats.org/officeDocument/2006/relationships/slide" Target="slides/slide9.xml"/><Relationship Id="rId26" Type="http://schemas.openxmlformats.org/officeDocument/2006/relationships/slide" Target="slides/slide10.xml"/><Relationship Id="rId27" Type="http://schemas.openxmlformats.org/officeDocument/2006/relationships/slide" Target="slides/slide11.xml"/><Relationship Id="rId28" Type="http://schemas.openxmlformats.org/officeDocument/2006/relationships/slide" Target="slides/slide12.xml"/><Relationship Id="rId29" Type="http://schemas.openxmlformats.org/officeDocument/2006/relationships/slide" Target="slides/slide13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Open Sans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Open Sans" charset="0"/>
              </a:defRPr>
            </a:lvl1pPr>
          </a:lstStyle>
          <a:p>
            <a:pPr>
              <a:defRPr/>
            </a:pPr>
            <a:fld id="{59AAF3D2-EDFA-BA42-9460-032E57456FC5}" type="datetimeFigureOut">
              <a:rPr lang="en-US"/>
              <a:pPr>
                <a:defRPr/>
              </a:pPr>
              <a:t>4/3/26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Open Sans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Open Sans" charset="0"/>
              </a:defRPr>
            </a:lvl1pPr>
          </a:lstStyle>
          <a:p>
            <a:pPr>
              <a:defRPr/>
            </a:pPr>
            <a:fld id="{53E6B18D-BC97-A741-A494-5A40B396D86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 baseline="0">
                <a:latin typeface="Open Sans" charset="0"/>
                <a:ea typeface="ＭＳ Ｐゴシック" charset="0"/>
                <a:cs typeface="Geneva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 baseline="0">
                <a:latin typeface="Open Sans" charset="0"/>
                <a:ea typeface="ＭＳ Ｐゴシック" charset="0"/>
                <a:cs typeface="Geneva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0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</p:sp>
      <p:sp>
        <p:nvSpPr>
          <p:cNvPr id="307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07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 baseline="0">
                <a:latin typeface="Open Sans" charset="0"/>
                <a:ea typeface="ＭＳ Ｐゴシック" charset="0"/>
                <a:cs typeface="Geneva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07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 baseline="0">
                <a:latin typeface="Open Sans" charset="0"/>
              </a:defRPr>
            </a:lvl1pPr>
          </a:lstStyle>
          <a:p>
            <a:pPr>
              <a:defRPr/>
            </a:pPr>
            <a:fld id="{2B24F439-14CB-B64A-A38E-43868DBA8F9B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Open Sans" charset="0"/>
        <a:ea typeface="ＭＳ Ｐゴシック" charset="0"/>
        <a:cs typeface="Geneva" pitchFamily="-110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Open Sans" charset="0"/>
        <a:ea typeface="Geneva" pitchFamily="-110" charset="-128"/>
        <a:cs typeface="Geneva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Open Sans" charset="0"/>
        <a:ea typeface="Geneva" pitchFamily="-110" charset="-128"/>
        <a:cs typeface="Geneva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Open Sans" charset="0"/>
        <a:ea typeface="Geneva" pitchFamily="-110" charset="-128"/>
        <a:cs typeface="Geneva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Open Sans" charset="0"/>
        <a:ea typeface="Geneva" pitchFamily="-110" charset="-128"/>
        <a:cs typeface="Geneva" charset="0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45 Helvetica Light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45 Helvetica Light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45 Helvetica Light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45 Helvetica Light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45 Helvetica Light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45 Helvetica Light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45 Helvetica Light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45 Helvetica Light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45 Helvetica Light" charset="0"/>
                <a:ea typeface="ＭＳ Ｐゴシック" charset="-128"/>
              </a:defRPr>
            </a:lvl9pPr>
          </a:lstStyle>
          <a:p>
            <a:fld id="{A4676FBE-E17B-9F40-B294-2A0EC4B80004}" type="slidenum">
              <a:rPr lang="en-US" altLang="x-none" sz="1200">
                <a:latin typeface="Open Sans" charset="0"/>
              </a:rPr>
              <a:pPr/>
              <a:t>1</a:t>
            </a:fld>
            <a:endParaRPr lang="en-US" altLang="x-none" sz="1200">
              <a:latin typeface="Open Sans" charset="0"/>
            </a:endParaRPr>
          </a:p>
        </p:txBody>
      </p:sp>
      <p:sp>
        <p:nvSpPr>
          <p:cNvPr id="614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147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r>
              <a:rPr lang="en-US" altLang="x-none">
                <a:ea typeface="ＭＳ Ｐゴシック" charset="-128"/>
                <a:cs typeface="Geneva" charset="0"/>
              </a:rPr>
              <a:t>Hi everyone,</a:t>
            </a:r>
          </a:p>
          <a:p>
            <a:pPr eaLnBrk="1" hangingPunct="1"/>
            <a:endParaRPr lang="en-US" altLang="x-none">
              <a:ea typeface="ＭＳ Ｐゴシック" charset="-128"/>
              <a:cs typeface="Geneva" charset="0"/>
            </a:endParaRPr>
          </a:p>
          <a:p>
            <a:pPr eaLnBrk="1" hangingPunct="1"/>
            <a:r>
              <a:rPr lang="en-US" altLang="x-none">
                <a:ea typeface="ＭＳ Ｐゴシック" charset="-128"/>
                <a:cs typeface="Geneva" charset="0"/>
              </a:rPr>
              <a:t>Thank you for attending my Thesis Proposal</a:t>
            </a:r>
          </a:p>
          <a:p>
            <a:pPr eaLnBrk="1" hangingPunct="1"/>
            <a:endParaRPr lang="en-US" altLang="x-none">
              <a:ea typeface="ＭＳ Ｐゴシック" charset="-128"/>
              <a:cs typeface="Geneva" charset="0"/>
            </a:endParaRPr>
          </a:p>
          <a:p>
            <a:pPr eaLnBrk="1" hangingPunct="1"/>
            <a:r>
              <a:rPr lang="en-US" altLang="x-none">
                <a:ea typeface="ＭＳ Ｐゴシック" charset="-128"/>
                <a:cs typeface="Geneva" charset="0"/>
              </a:rPr>
              <a:t>Today I’ll be talking about</a:t>
            </a:r>
          </a:p>
          <a:p>
            <a:pPr eaLnBrk="1" hangingPunct="1"/>
            <a:endParaRPr lang="en-US" altLang="x-none">
              <a:ea typeface="ＭＳ Ｐゴシック" charset="-128"/>
              <a:cs typeface="Geneva" charset="0"/>
            </a:endParaRPr>
          </a:p>
          <a:p>
            <a:pPr eaLnBrk="1" hangingPunct="1"/>
            <a:r>
              <a:rPr lang="en-US" altLang="x-none">
                <a:ea typeface="ＭＳ Ｐゴシック" charset="-128"/>
                <a:cs typeface="Geneva" charset="0"/>
              </a:rPr>
              <a:t>[READ TITLE]</a:t>
            </a:r>
          </a:p>
          <a:p>
            <a:pPr eaLnBrk="1" hangingPunct="1"/>
            <a:endParaRPr lang="en-US" altLang="x-none">
              <a:ea typeface="ＭＳ Ｐゴシック" charset="-128"/>
              <a:cs typeface="Geneva" charset="0"/>
            </a:endParaRPr>
          </a:p>
          <a:p>
            <a:pPr eaLnBrk="1" hangingPunct="1"/>
            <a:r>
              <a:rPr lang="en-US" altLang="x-none">
                <a:ea typeface="ＭＳ Ｐゴシック" charset="-128"/>
                <a:cs typeface="Geneva" charset="0"/>
              </a:rPr>
              <a:t>I’d first like to thank my thesis advisor</a:t>
            </a:r>
          </a:p>
          <a:p>
            <a:pPr eaLnBrk="1" hangingPunct="1"/>
            <a:endParaRPr lang="en-US" altLang="x-none">
              <a:ea typeface="ＭＳ Ｐゴシック" charset="-128"/>
              <a:cs typeface="Geneva" charset="0"/>
            </a:endParaRPr>
          </a:p>
          <a:p>
            <a:pPr eaLnBrk="1" hangingPunct="1"/>
            <a:r>
              <a:rPr lang="en-US" altLang="x-none">
                <a:ea typeface="ＭＳ Ｐゴシック" charset="-128"/>
                <a:cs typeface="Geneva" charset="0"/>
              </a:rPr>
              <a:t>Dr. Amir Barati </a:t>
            </a:r>
            <a:r>
              <a:rPr lang="en-US" altLang="x-none" err="1">
                <a:ea typeface="ＭＳ Ｐゴシック" charset="-128"/>
                <a:cs typeface="Geneva" charset="0"/>
              </a:rPr>
              <a:t>Farimani</a:t>
            </a:r>
            <a:endParaRPr lang="en-US" altLang="x-none">
              <a:ea typeface="ＭＳ Ｐゴシック" charset="-128"/>
              <a:cs typeface="Geneva" charset="0"/>
            </a:endParaRPr>
          </a:p>
          <a:p>
            <a:pPr eaLnBrk="1" hangingPunct="1"/>
            <a:endParaRPr lang="en-US" altLang="x-none">
              <a:ea typeface="ＭＳ Ｐゴシック" charset="-128"/>
              <a:cs typeface="Geneva" charset="0"/>
            </a:endParaRPr>
          </a:p>
          <a:p>
            <a:pPr eaLnBrk="1" hangingPunct="1"/>
            <a:r>
              <a:rPr lang="en-US" altLang="x-none">
                <a:ea typeface="ＭＳ Ｐゴシック" charset="-128"/>
                <a:cs typeface="Geneva" charset="0"/>
              </a:rPr>
              <a:t>For all of his mentorship and guidance</a:t>
            </a:r>
          </a:p>
          <a:p>
            <a:pPr eaLnBrk="1" hangingPunct="1"/>
            <a:endParaRPr lang="en-US" altLang="x-none">
              <a:ea typeface="ＭＳ Ｐゴシック" charset="-128"/>
              <a:cs typeface="Geneva" charset="0"/>
            </a:endParaRPr>
          </a:p>
          <a:p>
            <a:pPr eaLnBrk="1" hangingPunct="1"/>
            <a:r>
              <a:rPr lang="en-US" altLang="x-none">
                <a:ea typeface="ＭＳ Ｐゴシック" charset="-128"/>
                <a:cs typeface="Geneva" charset="0"/>
              </a:rPr>
              <a:t>I’d also like to thank the members of my thesis committee</a:t>
            </a:r>
          </a:p>
          <a:p>
            <a:pPr eaLnBrk="1" hangingPunct="1"/>
            <a:endParaRPr lang="en-US" altLang="x-none">
              <a:ea typeface="ＭＳ Ｐゴシック" charset="-128"/>
              <a:cs typeface="Geneva" charset="0"/>
            </a:endParaRPr>
          </a:p>
          <a:p>
            <a:pPr eaLnBrk="1" hangingPunct="1"/>
            <a:r>
              <a:rPr lang="en-US" altLang="x-none">
                <a:ea typeface="ＭＳ Ｐゴシック" charset="-128"/>
                <a:cs typeface="Geneva" charset="0"/>
              </a:rPr>
              <a:t>Dr. Anthony Rollett</a:t>
            </a:r>
          </a:p>
          <a:p>
            <a:pPr eaLnBrk="1" hangingPunct="1"/>
            <a:endParaRPr lang="en-US" altLang="x-none">
              <a:ea typeface="ＭＳ Ｐゴシック" charset="-128"/>
              <a:cs typeface="Geneva" charset="0"/>
            </a:endParaRPr>
          </a:p>
          <a:p>
            <a:pPr eaLnBrk="1" hangingPunct="1"/>
            <a:r>
              <a:rPr lang="en-US" altLang="x-none">
                <a:ea typeface="ＭＳ Ｐゴシック" charset="-128"/>
                <a:cs typeface="Geneva" charset="0"/>
              </a:rPr>
              <a:t>Dr. Jonathan Malen</a:t>
            </a:r>
          </a:p>
          <a:p>
            <a:pPr eaLnBrk="1" hangingPunct="1"/>
            <a:endParaRPr lang="en-US" altLang="x-none">
              <a:ea typeface="ＭＳ Ｐゴシック" charset="-128"/>
              <a:cs typeface="Geneva" charset="0"/>
            </a:endParaRPr>
          </a:p>
          <a:p>
            <a:pPr eaLnBrk="1" hangingPunct="1"/>
            <a:r>
              <a:rPr lang="en-US" altLang="x-none">
                <a:ea typeface="ＭＳ Ｐゴシック" charset="-128"/>
                <a:cs typeface="Geneva" charset="0"/>
              </a:rPr>
              <a:t>Dr. Sneha Narra</a:t>
            </a:r>
          </a:p>
          <a:p>
            <a:pPr eaLnBrk="1" hangingPunct="1"/>
            <a:endParaRPr lang="en-US" altLang="x-none">
              <a:ea typeface="ＭＳ Ｐゴシック" charset="-128"/>
              <a:cs typeface="Geneva" charset="0"/>
            </a:endParaRPr>
          </a:p>
          <a:p>
            <a:pPr eaLnBrk="1" hangingPunct="1"/>
            <a:r>
              <a:rPr lang="en-US" altLang="x-none">
                <a:ea typeface="ＭＳ Ｐゴシック" charset="-128"/>
                <a:cs typeface="Geneva" charset="0"/>
              </a:rPr>
              <a:t>For accepting my committee invitation.</a:t>
            </a:r>
          </a:p>
          <a:p>
            <a:pPr eaLnBrk="1" hangingPunct="1"/>
            <a:endParaRPr lang="en-US" altLang="x-none">
              <a:ea typeface="ＭＳ Ｐゴシック" charset="-128"/>
              <a:cs typeface="Geneva" charset="0"/>
            </a:endParaRPr>
          </a:p>
          <a:p>
            <a:pPr eaLnBrk="1" hangingPunct="1"/>
            <a:r>
              <a:rPr lang="en-US" altLang="x-none">
                <a:ea typeface="ＭＳ Ｐゴシック" charset="-128"/>
                <a:cs typeface="Geneva" charset="0"/>
              </a:rPr>
              <a:t>Alright, let’s get started.</a:t>
            </a:r>
          </a:p>
        </p:txBody>
      </p:sp>
    </p:spTree>
    <p:extLst>
      <p:ext uri="{BB962C8B-B14F-4D97-AF65-F5344CB8AC3E}">
        <p14:creationId xmlns:p14="http://schemas.microsoft.com/office/powerpoint/2010/main" val="2982755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Additive manufacturing, specifically laser powder bed fusion, is a multi-faceted complex process that is becoming more complex with advances such as multi-laser and multi-material based approaches.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B24F439-14CB-B64A-A38E-43868DBA8F9B}" type="slidenum">
              <a:rPr lang="en-US" altLang="x-none" smtClean="0"/>
              <a:pPr>
                <a:defRPr/>
              </a:pPr>
              <a:t>8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71922439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5"/>
          <p:cNvSpPr>
            <a:spLocks noChangeArrowheads="1"/>
          </p:cNvSpPr>
          <p:nvPr/>
        </p:nvSpPr>
        <p:spPr bwMode="auto">
          <a:xfrm>
            <a:off x="0" y="0"/>
            <a:ext cx="9144000" cy="5143500"/>
          </a:xfrm>
          <a:prstGeom prst="rect">
            <a:avLst/>
          </a:prstGeom>
          <a:solidFill>
            <a:srgbClr val="BB0027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45 Helvetica Light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45 Helvetica Light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45 Helvetica Light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45 Helvetica Light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45 Helvetica Light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45 Helvetica Light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45 Helvetica Light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45 Helvetica Light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45 Helvetica Light" charset="0"/>
                <a:ea typeface="ＭＳ Ｐゴシック" charset="-128"/>
              </a:defRPr>
            </a:lvl9pPr>
          </a:lstStyle>
          <a:p>
            <a:pPr>
              <a:defRPr/>
            </a:pPr>
            <a:endParaRPr lang="x-none" altLang="x-none">
              <a:latin typeface="Open Sans Regular" charset="0"/>
            </a:endParaRPr>
          </a:p>
        </p:txBody>
      </p:sp>
      <p:pic>
        <p:nvPicPr>
          <p:cNvPr id="3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895350"/>
            <a:ext cx="3429000" cy="306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Picture 6" descr="_Plaid-Digital_FINAL-NEW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4737" t="23988" r="4771" b="1990"/>
          <a:stretch>
            <a:fillRect/>
          </a:stretch>
        </p:blipFill>
        <p:spPr bwMode="auto">
          <a:xfrm>
            <a:off x="457200" y="0"/>
            <a:ext cx="790575" cy="5143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5"/>
          <p:cNvSpPr>
            <a:spLocks noChangeArrowheads="1"/>
          </p:cNvSpPr>
          <p:nvPr userDrawn="1"/>
        </p:nvSpPr>
        <p:spPr bwMode="auto">
          <a:xfrm>
            <a:off x="0" y="0"/>
            <a:ext cx="9144000" cy="5143500"/>
          </a:xfrm>
          <a:prstGeom prst="rect">
            <a:avLst/>
          </a:prstGeom>
          <a:solidFill>
            <a:srgbClr val="BB0027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45 Helvetica Light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45 Helvetica Light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45 Helvetica Light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45 Helvetica Light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45 Helvetica Light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45 Helvetica Light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45 Helvetica Light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45 Helvetica Light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45 Helvetica Light" charset="0"/>
                <a:ea typeface="ＭＳ Ｐゴシック" charset="-128"/>
              </a:defRPr>
            </a:lvl9pPr>
          </a:lstStyle>
          <a:p>
            <a:pPr>
              <a:defRPr/>
            </a:pPr>
            <a:endParaRPr lang="x-none" altLang="x-none">
              <a:latin typeface="Open Sans Regular" charset="0"/>
            </a:endParaRPr>
          </a:p>
        </p:txBody>
      </p:sp>
      <p:pic>
        <p:nvPicPr>
          <p:cNvPr id="6" name="Picture 1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895350"/>
            <a:ext cx="3429000" cy="306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12" descr="_Plaid-Digital_FINAL-NEW.png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4737" t="23988" r="4771" b="1990"/>
          <a:stretch>
            <a:fillRect/>
          </a:stretch>
        </p:blipFill>
        <p:spPr bwMode="auto">
          <a:xfrm>
            <a:off x="457200" y="0"/>
            <a:ext cx="790575" cy="5143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7093143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DM Sans 14pt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FE22EB4-74F7-E4D1-DCCA-07234DC454C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4933950"/>
            <a:ext cx="8001000" cy="209550"/>
          </a:xfrm>
        </p:spPr>
        <p:txBody>
          <a:bodyPr/>
          <a:lstStyle>
            <a:lvl1pPr>
              <a:defRPr sz="800">
                <a:latin typeface="DM Sans 14pt" pitchFamily="2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216131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DM Sans 14pt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457200" y="1200150"/>
            <a:ext cx="8229600" cy="3429000"/>
          </a:xfrm>
        </p:spPr>
        <p:txBody>
          <a:bodyPr/>
          <a:lstStyle>
            <a:lvl1pPr>
              <a:defRPr>
                <a:latin typeface="DM Sans 14pt" pitchFamily="2" charset="77"/>
              </a:defRPr>
            </a:lvl1pPr>
            <a:lvl2pPr>
              <a:defRPr>
                <a:latin typeface="DM Sans 14pt" pitchFamily="2" charset="77"/>
              </a:defRPr>
            </a:lvl2pPr>
            <a:lvl3pPr>
              <a:defRPr>
                <a:latin typeface="DM Sans 14pt" pitchFamily="2" charset="77"/>
              </a:defRPr>
            </a:lvl3pPr>
            <a:lvl4pPr>
              <a:defRPr>
                <a:latin typeface="DM Sans 14pt" pitchFamily="2" charset="77"/>
              </a:defRPr>
            </a:lvl4pPr>
            <a:lvl5pPr>
              <a:defRPr>
                <a:latin typeface="DM Sans 14pt" pitchFamily="2" charset="77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400EFD-6CE2-B612-D139-EDAAC66540F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0" y="4933950"/>
            <a:ext cx="8001000" cy="209550"/>
          </a:xfrm>
        </p:spPr>
        <p:txBody>
          <a:bodyPr/>
          <a:lstStyle>
            <a:lvl1pPr>
              <a:defRPr sz="800">
                <a:latin typeface="DM Sans 14pt" pitchFamily="2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281116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DM Sans 14pt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10"/>
          </p:nvPr>
        </p:nvSpPr>
        <p:spPr>
          <a:xfrm>
            <a:off x="457200" y="1200150"/>
            <a:ext cx="3962400" cy="3429000"/>
          </a:xfrm>
        </p:spPr>
        <p:txBody>
          <a:bodyPr/>
          <a:lstStyle>
            <a:lvl1pPr>
              <a:defRPr>
                <a:latin typeface="DM Sans 14pt" pitchFamily="2" charset="77"/>
              </a:defRPr>
            </a:lvl1pPr>
            <a:lvl2pPr>
              <a:defRPr>
                <a:latin typeface="DM Sans 14pt" pitchFamily="2" charset="77"/>
              </a:defRPr>
            </a:lvl2pPr>
            <a:lvl3pPr>
              <a:defRPr>
                <a:latin typeface="DM Sans 14pt" pitchFamily="2" charset="77"/>
              </a:defRPr>
            </a:lvl3pPr>
            <a:lvl4pPr>
              <a:defRPr>
                <a:latin typeface="DM Sans 14pt" pitchFamily="2" charset="77"/>
              </a:defRPr>
            </a:lvl4pPr>
            <a:lvl5pPr>
              <a:defRPr>
                <a:latin typeface="DM Sans 14pt" pitchFamily="2" charset="77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1"/>
          </p:nvPr>
        </p:nvSpPr>
        <p:spPr>
          <a:xfrm>
            <a:off x="4727448" y="1212300"/>
            <a:ext cx="3959352" cy="3429000"/>
          </a:xfrm>
        </p:spPr>
        <p:txBody>
          <a:bodyPr/>
          <a:lstStyle>
            <a:lvl1pPr>
              <a:defRPr>
                <a:latin typeface="DM Sans 14pt" pitchFamily="2" charset="77"/>
              </a:defRPr>
            </a:lvl1pPr>
            <a:lvl2pPr>
              <a:defRPr>
                <a:latin typeface="DM Sans 14pt" pitchFamily="2" charset="77"/>
              </a:defRPr>
            </a:lvl2pPr>
            <a:lvl3pPr>
              <a:defRPr>
                <a:latin typeface="DM Sans 14pt" pitchFamily="2" charset="77"/>
              </a:defRPr>
            </a:lvl3pPr>
            <a:lvl4pPr>
              <a:defRPr>
                <a:latin typeface="DM Sans 14pt" pitchFamily="2" charset="77"/>
              </a:defRPr>
            </a:lvl4pPr>
            <a:lvl5pPr>
              <a:defRPr>
                <a:latin typeface="DM Sans 14pt" pitchFamily="2" charset="77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C729217-CC38-A012-FDD7-9CCC9EC2C55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4933950"/>
            <a:ext cx="8001000" cy="209550"/>
          </a:xfrm>
        </p:spPr>
        <p:txBody>
          <a:bodyPr/>
          <a:lstStyle>
            <a:lvl1pPr>
              <a:defRPr sz="800">
                <a:latin typeface="DM Sans 14pt" pitchFamily="2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5982859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DM Sans 14pt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10"/>
          </p:nvPr>
        </p:nvSpPr>
        <p:spPr>
          <a:xfrm>
            <a:off x="457200" y="1200150"/>
            <a:ext cx="2590800" cy="3429000"/>
          </a:xfrm>
        </p:spPr>
        <p:txBody>
          <a:bodyPr/>
          <a:lstStyle>
            <a:lvl1pPr>
              <a:defRPr>
                <a:latin typeface="DM Sans 14pt" pitchFamily="2" charset="77"/>
              </a:defRPr>
            </a:lvl1pPr>
            <a:lvl2pPr>
              <a:defRPr>
                <a:latin typeface="DM Sans 14pt" pitchFamily="2" charset="77"/>
              </a:defRPr>
            </a:lvl2pPr>
            <a:lvl3pPr>
              <a:defRPr>
                <a:latin typeface="DM Sans 14pt" pitchFamily="2" charset="77"/>
              </a:defRPr>
            </a:lvl3pPr>
            <a:lvl4pPr>
              <a:defRPr>
                <a:latin typeface="DM Sans 14pt" pitchFamily="2" charset="77"/>
              </a:defRPr>
            </a:lvl4pPr>
            <a:lvl5pPr>
              <a:defRPr>
                <a:latin typeface="DM Sans 14pt" pitchFamily="2" charset="77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3"/>
          <p:cNvSpPr>
            <a:spLocks noGrp="1"/>
          </p:cNvSpPr>
          <p:nvPr>
            <p:ph sz="quarter" idx="11"/>
          </p:nvPr>
        </p:nvSpPr>
        <p:spPr>
          <a:xfrm>
            <a:off x="3276600" y="1200150"/>
            <a:ext cx="2590800" cy="3429000"/>
          </a:xfrm>
        </p:spPr>
        <p:txBody>
          <a:bodyPr/>
          <a:lstStyle>
            <a:lvl1pPr>
              <a:defRPr>
                <a:latin typeface="DM Sans 14pt" pitchFamily="2" charset="77"/>
              </a:defRPr>
            </a:lvl1pPr>
            <a:lvl2pPr>
              <a:defRPr>
                <a:latin typeface="DM Sans 14pt" pitchFamily="2" charset="77"/>
              </a:defRPr>
            </a:lvl2pPr>
            <a:lvl3pPr>
              <a:defRPr>
                <a:latin typeface="DM Sans 14pt" pitchFamily="2" charset="77"/>
              </a:defRPr>
            </a:lvl3pPr>
            <a:lvl4pPr>
              <a:defRPr>
                <a:latin typeface="DM Sans 14pt" pitchFamily="2" charset="77"/>
              </a:defRPr>
            </a:lvl4pPr>
            <a:lvl5pPr>
              <a:defRPr>
                <a:latin typeface="DM Sans 14pt" pitchFamily="2" charset="77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12"/>
          </p:nvPr>
        </p:nvSpPr>
        <p:spPr>
          <a:xfrm>
            <a:off x="6096000" y="1200150"/>
            <a:ext cx="2590800" cy="3429000"/>
          </a:xfrm>
        </p:spPr>
        <p:txBody>
          <a:bodyPr/>
          <a:lstStyle>
            <a:lvl1pPr>
              <a:defRPr>
                <a:latin typeface="DM Sans 14pt" pitchFamily="2" charset="77"/>
              </a:defRPr>
            </a:lvl1pPr>
            <a:lvl2pPr>
              <a:defRPr>
                <a:latin typeface="DM Sans 14pt" pitchFamily="2" charset="77"/>
              </a:defRPr>
            </a:lvl2pPr>
            <a:lvl3pPr>
              <a:defRPr>
                <a:latin typeface="DM Sans 14pt" pitchFamily="2" charset="77"/>
              </a:defRPr>
            </a:lvl3pPr>
            <a:lvl4pPr>
              <a:defRPr>
                <a:latin typeface="DM Sans 14pt" pitchFamily="2" charset="77"/>
              </a:defRPr>
            </a:lvl4pPr>
            <a:lvl5pPr>
              <a:defRPr>
                <a:latin typeface="DM Sans 14pt" pitchFamily="2" charset="77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62AD9AD8-88AE-B053-63EE-556D81195E0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4933950"/>
            <a:ext cx="8001000" cy="209550"/>
          </a:xfrm>
        </p:spPr>
        <p:txBody>
          <a:bodyPr/>
          <a:lstStyle>
            <a:lvl1pPr>
              <a:defRPr sz="800">
                <a:latin typeface="DM Sans 14pt" pitchFamily="2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671100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DM Sans 14pt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10"/>
          </p:nvPr>
        </p:nvSpPr>
        <p:spPr>
          <a:xfrm>
            <a:off x="457200" y="1200150"/>
            <a:ext cx="1905000" cy="3429000"/>
          </a:xfrm>
        </p:spPr>
        <p:txBody>
          <a:bodyPr/>
          <a:lstStyle>
            <a:lvl1pPr>
              <a:defRPr>
                <a:latin typeface="DM Sans 14pt" pitchFamily="2" charset="77"/>
              </a:defRPr>
            </a:lvl1pPr>
            <a:lvl2pPr>
              <a:defRPr>
                <a:latin typeface="DM Sans 14pt" pitchFamily="2" charset="77"/>
              </a:defRPr>
            </a:lvl2pPr>
            <a:lvl3pPr>
              <a:defRPr>
                <a:latin typeface="DM Sans 14pt" pitchFamily="2" charset="77"/>
              </a:defRPr>
            </a:lvl3pPr>
            <a:lvl4pPr>
              <a:defRPr>
                <a:latin typeface="DM Sans 14pt" pitchFamily="2" charset="77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3"/>
          <p:cNvSpPr>
            <a:spLocks noGrp="1"/>
          </p:cNvSpPr>
          <p:nvPr>
            <p:ph sz="quarter" idx="11"/>
          </p:nvPr>
        </p:nvSpPr>
        <p:spPr>
          <a:xfrm>
            <a:off x="2565400" y="1200150"/>
            <a:ext cx="1905000" cy="3429000"/>
          </a:xfrm>
        </p:spPr>
        <p:txBody>
          <a:bodyPr/>
          <a:lstStyle>
            <a:lvl1pPr>
              <a:defRPr>
                <a:latin typeface="DM Sans 14pt" pitchFamily="2" charset="77"/>
              </a:defRPr>
            </a:lvl1pPr>
            <a:lvl2pPr>
              <a:defRPr>
                <a:latin typeface="DM Sans 14pt" pitchFamily="2" charset="77"/>
              </a:defRPr>
            </a:lvl2pPr>
            <a:lvl3pPr>
              <a:defRPr>
                <a:latin typeface="DM Sans 14pt" pitchFamily="2" charset="77"/>
              </a:defRPr>
            </a:lvl3pPr>
            <a:lvl4pPr>
              <a:defRPr>
                <a:latin typeface="DM Sans 14pt" pitchFamily="2" charset="77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12"/>
          </p:nvPr>
        </p:nvSpPr>
        <p:spPr>
          <a:xfrm>
            <a:off x="4673600" y="1200150"/>
            <a:ext cx="1905000" cy="3429000"/>
          </a:xfrm>
        </p:spPr>
        <p:txBody>
          <a:bodyPr/>
          <a:lstStyle>
            <a:lvl1pPr>
              <a:defRPr>
                <a:latin typeface="DM Sans 14pt" pitchFamily="2" charset="77"/>
              </a:defRPr>
            </a:lvl1pPr>
            <a:lvl2pPr>
              <a:defRPr>
                <a:latin typeface="DM Sans 14pt" pitchFamily="2" charset="77"/>
              </a:defRPr>
            </a:lvl2pPr>
            <a:lvl3pPr>
              <a:defRPr>
                <a:latin typeface="DM Sans 14pt" pitchFamily="2" charset="77"/>
              </a:defRPr>
            </a:lvl3pPr>
            <a:lvl4pPr>
              <a:defRPr>
                <a:latin typeface="DM Sans 14pt" pitchFamily="2" charset="77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Content Placeholder 3"/>
          <p:cNvSpPr>
            <a:spLocks noGrp="1"/>
          </p:cNvSpPr>
          <p:nvPr>
            <p:ph sz="quarter" idx="13"/>
          </p:nvPr>
        </p:nvSpPr>
        <p:spPr>
          <a:xfrm>
            <a:off x="6781800" y="1200150"/>
            <a:ext cx="1905000" cy="3429000"/>
          </a:xfrm>
        </p:spPr>
        <p:txBody>
          <a:bodyPr/>
          <a:lstStyle>
            <a:lvl1pPr>
              <a:defRPr>
                <a:latin typeface="DM Sans 14pt" pitchFamily="2" charset="77"/>
              </a:defRPr>
            </a:lvl1pPr>
            <a:lvl2pPr>
              <a:defRPr>
                <a:latin typeface="DM Sans 14pt" pitchFamily="2" charset="77"/>
              </a:defRPr>
            </a:lvl2pPr>
            <a:lvl3pPr>
              <a:defRPr>
                <a:latin typeface="DM Sans 14pt" pitchFamily="2" charset="77"/>
              </a:defRPr>
            </a:lvl3pPr>
            <a:lvl4pPr>
              <a:defRPr>
                <a:latin typeface="DM Sans 14pt" pitchFamily="2" charset="77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E889BB52-C188-E897-0163-57426A3289E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0" y="4933950"/>
            <a:ext cx="8001000" cy="209550"/>
          </a:xfrm>
        </p:spPr>
        <p:txBody>
          <a:bodyPr/>
          <a:lstStyle>
            <a:lvl1pPr>
              <a:defRPr sz="800">
                <a:latin typeface="DM Sans 14pt" pitchFamily="2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990645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963EF77A-37AD-9D78-BA5D-4A7736A855A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4933950"/>
            <a:ext cx="8001000" cy="209550"/>
          </a:xfrm>
        </p:spPr>
        <p:txBody>
          <a:bodyPr/>
          <a:lstStyle>
            <a:lvl1pPr>
              <a:defRPr sz="800">
                <a:latin typeface="DM Sans 14pt" pitchFamily="2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8333811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0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509975"/>
            <a:ext cx="8229600" cy="60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x-none"/>
              <a:t>Click to edit Master title style</a:t>
            </a:r>
          </a:p>
        </p:txBody>
      </p:sp>
      <p:sp>
        <p:nvSpPr>
          <p:cNvPr id="103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200150"/>
            <a:ext cx="8229600" cy="3505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x-none"/>
              <a:t>Click to edit Master text styles</a:t>
            </a:r>
          </a:p>
          <a:p>
            <a:pPr lvl="1"/>
            <a:r>
              <a:rPr lang="en-US" altLang="x-none"/>
              <a:t>Second level</a:t>
            </a:r>
          </a:p>
          <a:p>
            <a:pPr lvl="2"/>
            <a:r>
              <a:rPr lang="en-US" altLang="x-none"/>
              <a:t>Third level</a:t>
            </a:r>
          </a:p>
          <a:p>
            <a:pPr lvl="3"/>
            <a:r>
              <a:rPr lang="en-US" altLang="x-none"/>
              <a:t>Fourth level</a:t>
            </a:r>
          </a:p>
          <a:p>
            <a:pPr lvl="4"/>
            <a:r>
              <a:rPr lang="en-US" altLang="x-none"/>
              <a:t>Fifth level</a:t>
            </a: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51D83416-00FF-7E42-B8E5-8A7EE0EDCA91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073918" y="6400413"/>
            <a:ext cx="279883" cy="276999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  <a:sym typeface="Open Sans Regular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ADBF4EFE-C980-B844-B5ED-B8094C71D895}"/>
              </a:ext>
            </a:extLst>
          </p:cNvPr>
          <p:cNvSpPr txBox="1">
            <a:spLocks/>
          </p:cNvSpPr>
          <p:nvPr userDrawn="1"/>
        </p:nvSpPr>
        <p:spPr>
          <a:xfrm>
            <a:off x="11226318" y="6552813"/>
            <a:ext cx="279883" cy="276999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defPPr>
              <a:defRPr lang="en-US"/>
            </a:defPPr>
            <a:lvl1pPr algn="r" rtl="0" eaLnBrk="0" fontAlgn="base" hangingPunct="0">
              <a:spcBef>
                <a:spcPct val="0"/>
              </a:spcBef>
              <a:spcAft>
                <a:spcPct val="0"/>
              </a:spcAft>
              <a:defRPr sz="1200" kern="1200">
                <a:solidFill>
                  <a:srgbClr val="888888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  <a:sym typeface="Open Sans Regular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9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7BE7423C-EEE2-3F45-8EF7-78515AA765E4}"/>
              </a:ext>
            </a:extLst>
          </p:cNvPr>
          <p:cNvSpPr txBox="1">
            <a:spLocks/>
          </p:cNvSpPr>
          <p:nvPr userDrawn="1"/>
        </p:nvSpPr>
        <p:spPr>
          <a:xfrm>
            <a:off x="11378718" y="6705213"/>
            <a:ext cx="279883" cy="276999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defPPr>
              <a:defRPr lang="en-US"/>
            </a:defPPr>
            <a:lvl1pPr algn="r" rtl="0" eaLnBrk="0" fontAlgn="base" hangingPunct="0">
              <a:spcBef>
                <a:spcPct val="0"/>
              </a:spcBef>
              <a:spcAft>
                <a:spcPct val="0"/>
              </a:spcAft>
              <a:defRPr sz="1200" kern="1200">
                <a:solidFill>
                  <a:srgbClr val="888888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  <a:sym typeface="Open Sans Regular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9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Slide Number">
            <a:extLst>
              <a:ext uri="{FF2B5EF4-FFF2-40B4-BE49-F238E27FC236}">
                <a16:creationId xmlns:a16="http://schemas.microsoft.com/office/drawing/2014/main" id="{4C78D2C9-EC69-C447-A43E-74428D9672F5}"/>
              </a:ext>
            </a:extLst>
          </p:cNvPr>
          <p:cNvSpPr txBox="1">
            <a:spLocks/>
          </p:cNvSpPr>
          <p:nvPr userDrawn="1"/>
        </p:nvSpPr>
        <p:spPr>
          <a:xfrm>
            <a:off x="11531118" y="6857613"/>
            <a:ext cx="279883" cy="276999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defPPr>
              <a:defRPr lang="en-US"/>
            </a:defPPr>
            <a:lvl1pPr algn="r" rtl="0" eaLnBrk="0" fontAlgn="base" hangingPunct="0">
              <a:spcBef>
                <a:spcPct val="0"/>
              </a:spcBef>
              <a:spcAft>
                <a:spcPct val="0"/>
              </a:spcAft>
              <a:defRPr sz="1200" kern="1200">
                <a:solidFill>
                  <a:srgbClr val="888888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  <a:sym typeface="Open Sans Regular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9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D71E7F3-AD6C-224E-BD90-D1A35CEDCAE6}"/>
              </a:ext>
            </a:extLst>
          </p:cNvPr>
          <p:cNvSpPr txBox="1"/>
          <p:nvPr userDrawn="1"/>
        </p:nvSpPr>
        <p:spPr>
          <a:xfrm>
            <a:off x="8640661" y="4823671"/>
            <a:ext cx="5033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86CB4B4D-7CA3-9044-876B-883B54F8677D}" type="slidenum">
              <a:rPr lang="en-US" sz="1200" smtClean="0">
                <a:solidFill>
                  <a:schemeClr val="tx1"/>
                </a:solidFill>
                <a:latin typeface="DM Sans 14pt" pitchFamily="2" charset="77"/>
              </a:rPr>
              <a:pPr algn="ctr"/>
              <a:t>‹#›</a:t>
            </a:fld>
            <a:endParaRPr lang="en-US" sz="1200">
              <a:solidFill>
                <a:schemeClr val="tx1"/>
              </a:solidFill>
              <a:latin typeface="DM Sans 14pt" pitchFamily="2" charset="77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25" r:id="rId1"/>
    <p:sldLayoutId id="2147483819" r:id="rId2"/>
    <p:sldLayoutId id="2147483820" r:id="rId3"/>
    <p:sldLayoutId id="2147483821" r:id="rId4"/>
    <p:sldLayoutId id="2147483822" r:id="rId5"/>
    <p:sldLayoutId id="2147483823" r:id="rId6"/>
    <p:sldLayoutId id="2147483824" r:id="rId7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400" b="0">
          <a:solidFill>
            <a:schemeClr val="tx1"/>
          </a:solidFill>
          <a:latin typeface="DM Sans 14pt" pitchFamily="2" charset="77"/>
          <a:ea typeface="Open Sans" charset="0"/>
          <a:cs typeface="Open Sans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Open Sans" charset="0"/>
          <a:ea typeface="Open Sans" charset="0"/>
          <a:cs typeface="Open Sans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Open Sans" charset="0"/>
          <a:ea typeface="Open Sans" charset="0"/>
          <a:cs typeface="Open Sans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Open Sans" charset="0"/>
          <a:ea typeface="Open Sans" charset="0"/>
          <a:cs typeface="Open Sans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Open Sans" charset="0"/>
          <a:ea typeface="Open Sans" charset="0"/>
          <a:cs typeface="Open Sans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Times" pitchFamily="-110" charset="0"/>
          <a:ea typeface="Osaka" pitchFamily="-110" charset="-128"/>
          <a:cs typeface="Osaka" pitchFamily="-110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Times" pitchFamily="-110" charset="0"/>
          <a:ea typeface="Osaka" pitchFamily="-110" charset="-128"/>
          <a:cs typeface="Osaka" pitchFamily="-110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Times" pitchFamily="-110" charset="0"/>
          <a:ea typeface="Osaka" pitchFamily="-110" charset="-128"/>
          <a:cs typeface="Osaka" pitchFamily="-110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Times" pitchFamily="-110" charset="0"/>
          <a:ea typeface="Osaka" pitchFamily="-110" charset="-128"/>
          <a:cs typeface="Osaka" pitchFamily="-110" charset="-128"/>
        </a:defRPr>
      </a:lvl9pPr>
    </p:titleStyle>
    <p:bodyStyle>
      <a:lvl1pPr marL="6350" indent="-6350" algn="l" rtl="0" eaLnBrk="1" fontAlgn="base" hangingPunct="1">
        <a:spcBef>
          <a:spcPts val="600"/>
        </a:spcBef>
        <a:spcAft>
          <a:spcPct val="0"/>
        </a:spcAft>
        <a:defRPr sz="1400">
          <a:solidFill>
            <a:schemeClr val="tx1"/>
          </a:solidFill>
          <a:latin typeface="Open Sans" charset="0"/>
          <a:ea typeface="Open Sans" charset="0"/>
          <a:cs typeface="Open Sans" charset="0"/>
        </a:defRPr>
      </a:lvl1pPr>
      <a:lvl2pPr marL="742950" indent="-285750" algn="l" rtl="0" eaLnBrk="1" fontAlgn="base" hangingPunct="1">
        <a:spcBef>
          <a:spcPts val="600"/>
        </a:spcBef>
        <a:spcAft>
          <a:spcPct val="0"/>
        </a:spcAft>
        <a:buSzPct val="110000"/>
        <a:buFont typeface="Arial" charset="0"/>
        <a:buChar char="•"/>
        <a:defRPr sz="1400">
          <a:solidFill>
            <a:schemeClr val="tx1"/>
          </a:solidFill>
          <a:latin typeface="Open Sans" charset="0"/>
          <a:ea typeface="Open Sans" charset="0"/>
          <a:cs typeface="Open Sans" charset="0"/>
        </a:defRPr>
      </a:lvl2pPr>
      <a:lvl3pPr marL="1200150" indent="-285750" algn="l" rtl="0" eaLnBrk="1" fontAlgn="base" hangingPunct="1">
        <a:spcBef>
          <a:spcPts val="600"/>
        </a:spcBef>
        <a:spcAft>
          <a:spcPct val="0"/>
        </a:spcAft>
        <a:buSzPct val="110000"/>
        <a:buFont typeface=".AppleSystemUIFont" charset="-120"/>
        <a:buChar char="–"/>
        <a:defRPr sz="1400" i="1">
          <a:solidFill>
            <a:schemeClr val="tx1"/>
          </a:solidFill>
          <a:latin typeface="Open Sans" charset="0"/>
          <a:ea typeface="Open Sans" charset="0"/>
          <a:cs typeface="Open Sans" charset="0"/>
        </a:defRPr>
      </a:lvl3pPr>
      <a:lvl4pPr marL="1657350" indent="-285750" algn="l" rtl="0" eaLnBrk="1" fontAlgn="base" hangingPunct="1">
        <a:spcBef>
          <a:spcPts val="600"/>
        </a:spcBef>
        <a:spcAft>
          <a:spcPct val="0"/>
        </a:spcAft>
        <a:buSzPct val="110000"/>
        <a:buFont typeface="Arial" charset="0"/>
        <a:buChar char="•"/>
        <a:defRPr sz="1400">
          <a:solidFill>
            <a:schemeClr val="tx1"/>
          </a:solidFill>
          <a:latin typeface="Open Sans" charset="0"/>
          <a:ea typeface="Open Sans" charset="0"/>
          <a:cs typeface="Open Sans" charset="0"/>
        </a:defRPr>
      </a:lvl4pPr>
      <a:lvl5pPr marL="2057400" indent="-228600" algn="l" rtl="0" eaLnBrk="1" fontAlgn="base" hangingPunct="1">
        <a:spcBef>
          <a:spcPts val="600"/>
        </a:spcBef>
        <a:spcAft>
          <a:spcPct val="0"/>
        </a:spcAft>
        <a:buSzPct val="110000"/>
        <a:buFont typeface=".AppleSystemUIFont" charset="-120"/>
        <a:buChar char="–"/>
        <a:defRPr sz="1400" i="1">
          <a:solidFill>
            <a:schemeClr val="tx1"/>
          </a:solidFill>
          <a:latin typeface="Open Sans" charset="0"/>
          <a:ea typeface="Open Sans" charset="0"/>
          <a:cs typeface="Open Sans" charset="0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Arial" pitchFamily="-110" charset="0"/>
          <a:ea typeface="+mn-ea"/>
          <a:cs typeface="+mn-cs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Arial" pitchFamily="-110" charset="0"/>
          <a:ea typeface="+mn-ea"/>
          <a:cs typeface="+mn-cs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Arial" pitchFamily="-110" charset="0"/>
          <a:ea typeface="+mn-ea"/>
          <a:cs typeface="+mn-cs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Arial" pitchFamily="-110" charset="0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8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463040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EIA AGENT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E5E7EB"/>
                </a:solidFill>
              </a:rPr>
              <a:t>Automated Environmental Impact Assessment via Multi-Agent AI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517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97316"/>
                </a:solidFill>
              </a:rPr>
              <a:t>24-880 AI Agents for Engineers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918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5E7EB"/>
                </a:solidFill>
              </a:rPr>
              <a:t>[ Group Member Name(s) 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49039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5E7EB"/>
                </a:solidFill>
              </a:rPr>
              <a:t>[ Presentation Date ]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8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463040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EIA AGENT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E5E7EB"/>
                </a:solidFill>
              </a:rPr>
              <a:t>Automated Environmental Impact Assessment via Multi-Agent AI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517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97316"/>
                </a:solidFill>
              </a:rPr>
              <a:t>24-880 AI Agents for Engineers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918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5E7EB"/>
                </a:solidFill>
              </a:rPr>
              <a:t>[ Group Member Name(s) 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49039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5E7EB"/>
                </a:solidFill>
              </a:rPr>
              <a:t>[ Presentation Date ]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8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97316"/>
                </a:solidFill>
              </a:rPr>
              <a:t>Problem Statement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14400"/>
            <a:ext cx="11064240" cy="18288"/>
          </a:xfrm>
          <a:prstGeom prst="rect">
            <a:avLst/>
          </a:prstGeom>
          <a:solidFill>
            <a:srgbClr val="3D4A5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▸ Environmental reviews are a bottleneck for infrastructure</a:t>
            </a:r>
          </a:p>
          <a:p>
            <a:pPr lvl="1">
              <a:spcBef>
                <a:spcPts val="200"/>
              </a:spcBef>
            </a:pPr>
            <a:r>
              <a:rPr sz="1400" b="0">
                <a:solidFill>
                  <a:srgbClr val="E5E7EB"/>
                </a:solidFill>
              </a:rPr>
              <a:t>    · NEPA requires screening-level EA before major federal actions</a:t>
            </a:r>
          </a:p>
          <a:p>
            <a:pPr lvl="1">
              <a:spcBef>
                <a:spcPts val="200"/>
              </a:spcBef>
            </a:pPr>
            <a:r>
              <a:rPr sz="1400" b="0">
                <a:solidFill>
                  <a:srgbClr val="E5E7EB"/>
                </a:solidFill>
              </a:rPr>
              <a:t>    · Involves querying 5+ federal databases, screening 100s of regulations, writing reports</a:t>
            </a:r>
          </a:p>
          <a:p>
            <a:pPr lvl="1">
              <a:spcBef>
                <a:spcPts val="200"/>
              </a:spcBef>
            </a:pPr>
            <a:r>
              <a:rPr sz="1400" b="0">
                <a:solidFill>
                  <a:srgbClr val="E5E7EB"/>
                </a:solidFill>
              </a:rPr>
              <a:t>    · Typically takes weeks of expert analyst time per project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▸ 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▸ Existing tools don't explain their reasoning</a:t>
            </a:r>
          </a:p>
          <a:p>
            <a:pPr lvl="1">
              <a:spcBef>
                <a:spcPts val="200"/>
              </a:spcBef>
            </a:pPr>
            <a:r>
              <a:rPr sz="1400" b="0">
                <a:solidFill>
                  <a:srgbClr val="E5E7EB"/>
                </a:solidFill>
              </a:rPr>
              <a:t>    · Black-box outputs are unusable in regulatory contexts</a:t>
            </a:r>
          </a:p>
          <a:p>
            <a:pPr lvl="1">
              <a:spcBef>
                <a:spcPts val="200"/>
              </a:spcBef>
            </a:pPr>
            <a:r>
              <a:rPr sz="1400" b="0">
                <a:solidFill>
                  <a:srgbClr val="E5E7EB"/>
                </a:solidFill>
              </a:rPr>
              <a:t>    · Agencies require traceable citations and data-backed determinations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▸ 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97316"/>
                </a:solidFill>
              </a:rPr>
              <a:t>▸ Goal: automate EIA screening with explainable, confidence-aware AI</a:t>
            </a:r>
          </a:p>
          <a:p>
            <a:pPr lvl="1">
              <a:spcBef>
                <a:spcPts val="200"/>
              </a:spcBef>
            </a:pPr>
            <a:r>
              <a:rPr sz="1400" b="0">
                <a:solidFill>
                  <a:srgbClr val="E5E7EB"/>
                </a:solidFill>
              </a:rPr>
              <a:t>    · Reduce time from weeks to minutes while preserving regulatory traceability</a:t>
            </a:r>
          </a:p>
          <a:p>
            <a:pPr lvl="1">
              <a:spcBef>
                <a:spcPts val="200"/>
              </a:spcBef>
            </a:pPr>
            <a:r>
              <a:rPr sz="1400" b="0">
                <a:solidFill>
                  <a:srgbClr val="E5E7EB"/>
                </a:solidFill>
              </a:rPr>
              <a:t>    · Flag low-confidence cells for human review — keeps experts in the loop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8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97316"/>
                </a:solidFill>
              </a:rPr>
              <a:t>Problem Statement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14400"/>
            <a:ext cx="11064240" cy="18288"/>
          </a:xfrm>
          <a:prstGeom prst="rect">
            <a:avLst/>
          </a:prstGeom>
          <a:solidFill>
            <a:srgbClr val="3D4A5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▸ Environmental reviews are a bottleneck for infrastructure</a:t>
            </a:r>
          </a:p>
          <a:p>
            <a:pPr lvl="1">
              <a:spcBef>
                <a:spcPts val="200"/>
              </a:spcBef>
            </a:pPr>
            <a:r>
              <a:rPr sz="1400" b="0">
                <a:solidFill>
                  <a:srgbClr val="E5E7EB"/>
                </a:solidFill>
              </a:rPr>
              <a:t>    · NEPA requires screening-level EA before major federal actions</a:t>
            </a:r>
          </a:p>
          <a:p>
            <a:pPr lvl="1">
              <a:spcBef>
                <a:spcPts val="200"/>
              </a:spcBef>
            </a:pPr>
            <a:r>
              <a:rPr sz="1400" b="0">
                <a:solidFill>
                  <a:srgbClr val="E5E7EB"/>
                </a:solidFill>
              </a:rPr>
              <a:t>    · Involves querying 5+ federal databases, screening 100s of regulations, writing reports</a:t>
            </a:r>
          </a:p>
          <a:p>
            <a:pPr lvl="1">
              <a:spcBef>
                <a:spcPts val="200"/>
              </a:spcBef>
            </a:pPr>
            <a:r>
              <a:rPr sz="1400" b="0">
                <a:solidFill>
                  <a:srgbClr val="E5E7EB"/>
                </a:solidFill>
              </a:rPr>
              <a:t>    · Typically takes weeks of expert analyst time per project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▸ 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▸ Existing tools don't explain their reasoning</a:t>
            </a:r>
          </a:p>
          <a:p>
            <a:pPr lvl="1">
              <a:spcBef>
                <a:spcPts val="200"/>
              </a:spcBef>
            </a:pPr>
            <a:r>
              <a:rPr sz="1400" b="0">
                <a:solidFill>
                  <a:srgbClr val="E5E7EB"/>
                </a:solidFill>
              </a:rPr>
              <a:t>    · Black-box outputs are unusable in regulatory contexts</a:t>
            </a:r>
          </a:p>
          <a:p>
            <a:pPr lvl="1">
              <a:spcBef>
                <a:spcPts val="200"/>
              </a:spcBef>
            </a:pPr>
            <a:r>
              <a:rPr sz="1400" b="0">
                <a:solidFill>
                  <a:srgbClr val="E5E7EB"/>
                </a:solidFill>
              </a:rPr>
              <a:t>    · Agencies require traceable citations and data-backed determinations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▸ 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97316"/>
                </a:solidFill>
              </a:rPr>
              <a:t>▸ Goal: automate EIA screening with explainable, confidence-aware AI</a:t>
            </a:r>
          </a:p>
          <a:p>
            <a:pPr lvl="1">
              <a:spcBef>
                <a:spcPts val="200"/>
              </a:spcBef>
            </a:pPr>
            <a:r>
              <a:rPr sz="1400" b="0">
                <a:solidFill>
                  <a:srgbClr val="E5E7EB"/>
                </a:solidFill>
              </a:rPr>
              <a:t>    · Reduce time from weeks to minutes while preserving regulatory traceability</a:t>
            </a:r>
          </a:p>
          <a:p>
            <a:pPr lvl="1">
              <a:spcBef>
                <a:spcPts val="200"/>
              </a:spcBef>
            </a:pPr>
            <a:r>
              <a:rPr sz="1400" b="0">
                <a:solidFill>
                  <a:srgbClr val="E5E7EB"/>
                </a:solidFill>
              </a:rPr>
              <a:t>    · Flag low-confidence cells for human review — keeps experts in the loop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8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97316"/>
                </a:solidFill>
              </a:rPr>
              <a:t>System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14400"/>
            <a:ext cx="11064240" cy="18288"/>
          </a:xfrm>
          <a:prstGeom prst="rect">
            <a:avLst/>
          </a:prstGeom>
          <a:solidFill>
            <a:srgbClr val="3D4A5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51206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 b="1">
                <a:solidFill>
                  <a:srgbClr val="FFFFFF"/>
                </a:solidFill>
              </a:rPr>
              <a:t>▸ React Frontend (Vite) — real-time SSE streaming UI</a:t>
            </a:r>
          </a:p>
          <a:p>
            <a:pPr lvl="1">
              <a:spcBef>
                <a:spcPts val="200"/>
              </a:spcBef>
            </a:pPr>
            <a:r>
              <a:rPr sz="1300" b="0">
                <a:solidFill>
                  <a:srgbClr val="E5E7EB"/>
                </a:solidFill>
              </a:rPr>
              <a:t>    · POST /api/run → FastAPI backend</a:t>
            </a:r>
          </a:p>
          <a:p>
            <a:pPr>
              <a:spcBef>
                <a:spcPts val="400"/>
              </a:spcBef>
            </a:pPr>
            <a:r>
              <a:rPr sz="1500" b="1">
                <a:solidFill>
                  <a:srgbClr val="FFFFFF"/>
                </a:solidFill>
              </a:rPr>
              <a:t>▸ LangGraph orchestrates sequential 5-agent pipeline</a:t>
            </a:r>
          </a:p>
          <a:p>
            <a:pPr lvl="1">
              <a:spcBef>
                <a:spcPts val="200"/>
              </a:spcBef>
            </a:pPr>
            <a:r>
              <a:rPr sz="1300" b="0">
                <a:solidFill>
                  <a:srgbClr val="E5E7EB"/>
                </a:solidFill>
              </a:rPr>
              <a:t>    · Streaming events: agent_start, agent_step, agent_complete, cost</a:t>
            </a:r>
          </a:p>
          <a:p>
            <a:pPr lvl="1">
              <a:spcBef>
                <a:spcPts val="200"/>
              </a:spcBef>
            </a:pPr>
            <a:r>
              <a:rPr sz="1300" b="0">
                <a:solidFill>
                  <a:srgbClr val="E5E7EB"/>
                </a:solidFill>
              </a:rPr>
              <a:t>    · Each agent output stored in PostgreSQL (JSONB) with cost metadata</a:t>
            </a:r>
          </a:p>
          <a:p>
            <a:pPr>
              <a:spcBef>
                <a:spcPts val="400"/>
              </a:spcBef>
            </a:pPr>
            <a:r>
              <a:rPr sz="1500" b="1">
                <a:solidFill>
                  <a:srgbClr val="FFFFFF"/>
                </a:solidFill>
              </a:rPr>
              <a:t>▸ Switchable LLM providers: OpenAI, Anthropic, Ollama — no code changes</a:t>
            </a:r>
          </a:p>
          <a:p>
            <a:pPr>
              <a:spcBef>
                <a:spcPts val="400"/>
              </a:spcBef>
            </a:pPr>
            <a:r>
              <a:rPr sz="1500" b="1">
                <a:solidFill>
                  <a:srgbClr val="FFFFFF"/>
                </a:solidFill>
              </a:rPr>
              <a:t>▸ pgvector for regulatory RAG and EIS evaluation similarity search</a:t>
            </a:r>
          </a:p>
          <a:p>
            <a:pPr>
              <a:spcBef>
                <a:spcPts val="400"/>
              </a:spcBef>
            </a:pPr>
            <a:r>
              <a:rPr sz="1500" b="1">
                <a:solidFill>
                  <a:srgbClr val="FFFFFF"/>
                </a:solidFill>
              </a:rPr>
              <a:t>▸ Deployed on Render (backend + frontend + managed PostgreSQL)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1005840"/>
            <a:ext cx="5852160" cy="5303520"/>
          </a:xfrm>
          <a:prstGeom prst="rect">
            <a:avLst/>
          </a:prstGeom>
          <a:solidFill>
            <a:srgbClr val="2D3748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0" y="340360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F97316"/>
                </a:solidFill>
              </a:rPr>
              <a:t>[ IMAGE PLACEHOLDER: System architecture diagram / pipeline screenshot 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8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97316"/>
                </a:solidFill>
              </a:rPr>
              <a:t>System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14400"/>
            <a:ext cx="11064240" cy="18288"/>
          </a:xfrm>
          <a:prstGeom prst="rect">
            <a:avLst/>
          </a:prstGeom>
          <a:solidFill>
            <a:srgbClr val="3D4A5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51206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 b="1">
                <a:solidFill>
                  <a:srgbClr val="FFFFFF"/>
                </a:solidFill>
              </a:rPr>
              <a:t>▸ React Frontend (Vite) — real-time SSE streaming UI</a:t>
            </a:r>
          </a:p>
          <a:p>
            <a:pPr lvl="1">
              <a:spcBef>
                <a:spcPts val="200"/>
              </a:spcBef>
            </a:pPr>
            <a:r>
              <a:rPr sz="1300" b="0">
                <a:solidFill>
                  <a:srgbClr val="E5E7EB"/>
                </a:solidFill>
              </a:rPr>
              <a:t>    · POST /api/run → FastAPI backend</a:t>
            </a:r>
          </a:p>
          <a:p>
            <a:pPr>
              <a:spcBef>
                <a:spcPts val="400"/>
              </a:spcBef>
            </a:pPr>
            <a:r>
              <a:rPr sz="1500" b="1">
                <a:solidFill>
                  <a:srgbClr val="FFFFFF"/>
                </a:solidFill>
              </a:rPr>
              <a:t>▸ LangGraph orchestrates sequential 5-agent pipeline</a:t>
            </a:r>
          </a:p>
          <a:p>
            <a:pPr lvl="1">
              <a:spcBef>
                <a:spcPts val="200"/>
              </a:spcBef>
            </a:pPr>
            <a:r>
              <a:rPr sz="1300" b="0">
                <a:solidFill>
                  <a:srgbClr val="E5E7EB"/>
                </a:solidFill>
              </a:rPr>
              <a:t>    · Streaming events: agent_start, agent_step, agent_complete, cost</a:t>
            </a:r>
          </a:p>
          <a:p>
            <a:pPr lvl="1">
              <a:spcBef>
                <a:spcPts val="200"/>
              </a:spcBef>
            </a:pPr>
            <a:r>
              <a:rPr sz="1300" b="0">
                <a:solidFill>
                  <a:srgbClr val="E5E7EB"/>
                </a:solidFill>
              </a:rPr>
              <a:t>    · Each agent output stored in PostgreSQL (JSONB) with cost metadata</a:t>
            </a:r>
          </a:p>
          <a:p>
            <a:pPr>
              <a:spcBef>
                <a:spcPts val="400"/>
              </a:spcBef>
            </a:pPr>
            <a:r>
              <a:rPr sz="1500" b="1">
                <a:solidFill>
                  <a:srgbClr val="FFFFFF"/>
                </a:solidFill>
              </a:rPr>
              <a:t>▸ Switchable LLM providers: OpenAI, Anthropic, Ollama — no code changes</a:t>
            </a:r>
          </a:p>
          <a:p>
            <a:pPr>
              <a:spcBef>
                <a:spcPts val="400"/>
              </a:spcBef>
            </a:pPr>
            <a:r>
              <a:rPr sz="1500" b="1">
                <a:solidFill>
                  <a:srgbClr val="FFFFFF"/>
                </a:solidFill>
              </a:rPr>
              <a:t>▸ pgvector for regulatory RAG and EIS evaluation similarity search</a:t>
            </a:r>
          </a:p>
          <a:p>
            <a:pPr>
              <a:spcBef>
                <a:spcPts val="400"/>
              </a:spcBef>
            </a:pPr>
            <a:r>
              <a:rPr sz="1500" b="1">
                <a:solidFill>
                  <a:srgbClr val="FFFFFF"/>
                </a:solidFill>
              </a:rPr>
              <a:t>▸ Deployed on Render (backend + frontend + managed PostgreSQL)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1005840"/>
            <a:ext cx="5852160" cy="5303520"/>
          </a:xfrm>
          <a:prstGeom prst="rect">
            <a:avLst/>
          </a:prstGeom>
          <a:solidFill>
            <a:srgbClr val="2D3748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0" y="340360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F97316"/>
                </a:solidFill>
              </a:rPr>
              <a:t>[ IMAGE PLACEHOLDER: System architecture diagram / pipeline screenshot 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8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97316"/>
                </a:solidFill>
              </a:rPr>
              <a:t>The 5-Agent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14400"/>
            <a:ext cx="11064240" cy="18288"/>
          </a:xfrm>
          <a:prstGeom prst="rect">
            <a:avLst/>
          </a:prstGeom>
          <a:solidFill>
            <a:srgbClr val="3D4A5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24128"/>
            <a:ext cx="2103120" cy="4937760"/>
          </a:xfrm>
          <a:prstGeom prst="rect">
            <a:avLst/>
          </a:prstGeom>
          <a:solidFill>
            <a:srgbClr val="2D3748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24128"/>
            <a:ext cx="2103120" cy="411480"/>
          </a:xfrm>
          <a:prstGeom prst="rect">
            <a:avLst/>
          </a:prstGeom>
          <a:solidFill>
            <a:srgbClr val="3B82F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042415"/>
            <a:ext cx="19568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1  PROJECT PARSER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508760"/>
            <a:ext cx="1883664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Extracts structured metadata from natural language.
Outputs: project_type, scale, location, actions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61488" y="1024128"/>
            <a:ext cx="2103120" cy="4937760"/>
          </a:xfrm>
          <a:prstGeom prst="rect">
            <a:avLst/>
          </a:prstGeom>
          <a:solidFill>
            <a:srgbClr val="2D3748"/>
          </a:solidFill>
          <a:ln w="19050">
            <a:solidFill>
              <a:srgbClr val="06B6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61488" y="1024128"/>
            <a:ext cx="2103120" cy="411480"/>
          </a:xfrm>
          <a:prstGeom prst="rect">
            <a:avLst/>
          </a:prstGeom>
          <a:solidFill>
            <a:srgbClr val="06B6D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4640" y="1042415"/>
            <a:ext cx="19568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2  ENVIRONMENTAL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71216" y="1508760"/>
            <a:ext cx="1883664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Queries 5 federal REST APIs by GPS coordinates.
USFWS species · NWI wetlands · FEMA flood · USDA farmland · EJScreen
No LLM — pure API orchestration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65776" y="1024128"/>
            <a:ext cx="2103120" cy="4937760"/>
          </a:xfrm>
          <a:prstGeom prst="rect">
            <a:avLst/>
          </a:prstGeom>
          <a:solidFill>
            <a:srgbClr val="2D3748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65776" y="1024128"/>
            <a:ext cx="2103120" cy="411480"/>
          </a:xfrm>
          <a:prstGeom prst="rect">
            <a:avLst/>
          </a:prstGeom>
          <a:solidFill>
            <a:srgbClr val="22C55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38928" y="1042415"/>
            <a:ext cx="19568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3  REGULATORY SCREENING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75504" y="1508760"/>
            <a:ext cx="1883664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RAG over NEPA guidance docs + CFR parts.
Project-scoped: only regulations assigned to this project.
Outputs: name, jurisdiction, citation, why triggered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70064" y="1024128"/>
            <a:ext cx="2103120" cy="4937760"/>
          </a:xfrm>
          <a:prstGeom prst="rect">
            <a:avLst/>
          </a:prstGeom>
          <a:solidFill>
            <a:srgbClr val="2D3748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70064" y="1024128"/>
            <a:ext cx="2103120" cy="411480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43216" y="1042415"/>
            <a:ext cx="19568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4  IMPACT ANALYSIS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79792" y="1508760"/>
            <a:ext cx="1883664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Cross-references actions × categories × regulations.
LLM produces significance + confidence + mitigation per cell.
Flags cells with confidence &lt; 0.6 for human review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74352" y="1024128"/>
            <a:ext cx="2103120" cy="4937760"/>
          </a:xfrm>
          <a:prstGeom prst="rect">
            <a:avLst/>
          </a:prstGeom>
          <a:solidFill>
            <a:srgbClr val="2D3748"/>
          </a:solidFill>
          <a:ln w="1905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74352" y="1024128"/>
            <a:ext cx="2103120" cy="411480"/>
          </a:xfrm>
          <a:prstGeom prst="rect">
            <a:avLst/>
          </a:prstGeom>
          <a:solidFill>
            <a:srgbClr val="EAB30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47504" y="1042415"/>
            <a:ext cx="19568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5  REPORT SYNTHESIS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0" y="1508760"/>
            <a:ext cx="1883664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Generates 10-section NEPA EA narrative.
Sections 1–7 via LLM; Sections 8–10 templated.
Full DOCX-ready output with inline citations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</a:rPr>
              <a:t>sequential →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8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97316"/>
                </a:solidFill>
              </a:rPr>
              <a:t>The 5-Agent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14400"/>
            <a:ext cx="11064240" cy="18288"/>
          </a:xfrm>
          <a:prstGeom prst="rect">
            <a:avLst/>
          </a:prstGeom>
          <a:solidFill>
            <a:srgbClr val="3D4A5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24128"/>
            <a:ext cx="2103120" cy="4937760"/>
          </a:xfrm>
          <a:prstGeom prst="rect">
            <a:avLst/>
          </a:prstGeom>
          <a:solidFill>
            <a:srgbClr val="2D3748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24128"/>
            <a:ext cx="2103120" cy="411480"/>
          </a:xfrm>
          <a:prstGeom prst="rect">
            <a:avLst/>
          </a:prstGeom>
          <a:solidFill>
            <a:srgbClr val="3B82F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042415"/>
            <a:ext cx="19568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1  PROJECT PARSER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508760"/>
            <a:ext cx="1883664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Extracts structured metadata from natural language.
Outputs: project_type, scale, location, actions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61488" y="1024128"/>
            <a:ext cx="2103120" cy="4937760"/>
          </a:xfrm>
          <a:prstGeom prst="rect">
            <a:avLst/>
          </a:prstGeom>
          <a:solidFill>
            <a:srgbClr val="2D3748"/>
          </a:solidFill>
          <a:ln w="19050">
            <a:solidFill>
              <a:srgbClr val="06B6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61488" y="1024128"/>
            <a:ext cx="2103120" cy="411480"/>
          </a:xfrm>
          <a:prstGeom prst="rect">
            <a:avLst/>
          </a:prstGeom>
          <a:solidFill>
            <a:srgbClr val="06B6D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4640" y="1042415"/>
            <a:ext cx="19568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2  ENVIRONMENTAL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71216" y="1508760"/>
            <a:ext cx="1883664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Queries 5 federal REST APIs by GPS coordinates.
USFWS species · NWI wetlands · FEMA flood · USDA farmland · EJScreen
No LLM — pure API orchestration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65776" y="1024128"/>
            <a:ext cx="2103120" cy="4937760"/>
          </a:xfrm>
          <a:prstGeom prst="rect">
            <a:avLst/>
          </a:prstGeom>
          <a:solidFill>
            <a:srgbClr val="2D3748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65776" y="1024128"/>
            <a:ext cx="2103120" cy="411480"/>
          </a:xfrm>
          <a:prstGeom prst="rect">
            <a:avLst/>
          </a:prstGeom>
          <a:solidFill>
            <a:srgbClr val="22C55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38928" y="1042415"/>
            <a:ext cx="19568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3  REGULATORY SCREENING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75504" y="1508760"/>
            <a:ext cx="1883664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RAG over NEPA guidance docs + CFR parts.
Project-scoped: only regulations assigned to this project.
Outputs: name, jurisdiction, citation, why triggered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70064" y="1024128"/>
            <a:ext cx="2103120" cy="4937760"/>
          </a:xfrm>
          <a:prstGeom prst="rect">
            <a:avLst/>
          </a:prstGeom>
          <a:solidFill>
            <a:srgbClr val="2D3748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70064" y="1024128"/>
            <a:ext cx="2103120" cy="411480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43216" y="1042415"/>
            <a:ext cx="19568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4  IMPACT ANALYSIS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79792" y="1508760"/>
            <a:ext cx="1883664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Cross-references actions × categories × regulations.
LLM produces significance + confidence + mitigation per cell.
Flags cells with confidence &lt; 0.6 for human review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74352" y="1024128"/>
            <a:ext cx="2103120" cy="4937760"/>
          </a:xfrm>
          <a:prstGeom prst="rect">
            <a:avLst/>
          </a:prstGeom>
          <a:solidFill>
            <a:srgbClr val="2D3748"/>
          </a:solidFill>
          <a:ln w="1905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74352" y="1024128"/>
            <a:ext cx="2103120" cy="411480"/>
          </a:xfrm>
          <a:prstGeom prst="rect">
            <a:avLst/>
          </a:prstGeom>
          <a:solidFill>
            <a:srgbClr val="EAB30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47504" y="1042415"/>
            <a:ext cx="19568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5  REPORT SYNTHESIS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0" y="1508760"/>
            <a:ext cx="1883664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Generates 10-section NEPA EA narrative.
Sections 1–7 via LLM; Sections 8–10 templated.
Full DOCX-ready output with inline citations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</a:rPr>
              <a:t>sequential →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8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97316"/>
                </a:solidFill>
              </a:rPr>
              <a:t>Regulatory Screening — RAG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14400"/>
            <a:ext cx="11064240" cy="18288"/>
          </a:xfrm>
          <a:prstGeom prst="rect">
            <a:avLst/>
          </a:prstGeom>
          <a:solidFill>
            <a:srgbClr val="3D4A5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005840"/>
            <a:ext cx="5303520" cy="365760"/>
          </a:xfrm>
          <a:prstGeom prst="rect">
            <a:avLst/>
          </a:prstGeom>
          <a:solidFill>
            <a:srgbClr val="2D374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024128"/>
            <a:ext cx="5120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97316"/>
                </a:solidFill>
              </a:rPr>
              <a:t>Ingestion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6304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500" b="1">
                <a:solidFill>
                  <a:srgbClr val="FFFFFF"/>
                </a:solidFill>
              </a:rPr>
              <a:t>▸ PDF uploads via /api/regulations/sources</a:t>
            </a:r>
          </a:p>
          <a:p>
            <a:pPr lvl="1">
              <a:spcBef>
                <a:spcPts val="100"/>
              </a:spcBef>
            </a:pPr>
            <a:r>
              <a:rPr sz="1300" b="0">
                <a:solidFill>
                  <a:srgbClr val="E5E7EB"/>
                </a:solidFill>
              </a:rPr>
              <a:t>  · Federal CFR/statute PDFs, Pennsylvania Code</a:t>
            </a:r>
          </a:p>
          <a:p>
            <a:pPr>
              <a:spcBef>
                <a:spcPts val="300"/>
              </a:spcBef>
            </a:pPr>
            <a:r>
              <a:rPr sz="1500" b="1">
                <a:solidFill>
                  <a:srgbClr val="FFFFFF"/>
                </a:solidFill>
              </a:rPr>
              <a:t>▸ eCFR live XML via /api/regulations/sources/ecfr</a:t>
            </a:r>
          </a:p>
          <a:p>
            <a:pPr lvl="1">
              <a:spcBef>
                <a:spcPts val="100"/>
              </a:spcBef>
            </a:pPr>
            <a:r>
              <a:rPr sz="1300" b="0">
                <a:solidFill>
                  <a:srgbClr val="E5E7EB"/>
                </a:solidFill>
              </a:rPr>
              <a:t>  · Versioner API pulls any CFR part by title+part+date</a:t>
            </a:r>
          </a:p>
          <a:p>
            <a:pPr>
              <a:spcBef>
                <a:spcPts val="300"/>
              </a:spcBef>
            </a:pPr>
            <a:r>
              <a:rPr sz="1500" b="1">
                <a:solidFill>
                  <a:srgbClr val="FFFFFF"/>
                </a:solidFill>
              </a:rPr>
              <a:t>▸ Parsed → chunked → embedded → pgvector (HNSW index)</a:t>
            </a:r>
          </a:p>
          <a:p>
            <a:pPr lvl="1">
              <a:spcBef>
                <a:spcPts val="100"/>
              </a:spcBef>
            </a:pPr>
            <a:r>
              <a:rPr sz="1300" b="0">
                <a:solidFill>
                  <a:srgbClr val="E5E7EB"/>
                </a:solidFill>
              </a:rPr>
              <a:t>  · HNSW cosine index for sub-millisecond ANN retrieval</a:t>
            </a:r>
          </a:p>
          <a:p>
            <a:pPr>
              <a:spcBef>
                <a:spcPts val="300"/>
              </a:spcBef>
            </a:pPr>
            <a:r>
              <a:rPr sz="1500" b="1">
                <a:solidFill>
                  <a:srgbClr val="FFFFFF"/>
                </a:solidFill>
              </a:rPr>
              <a:t>▸ Regulatory source assigned to specific project</a:t>
            </a:r>
          </a:p>
          <a:p>
            <a:pPr lvl="1">
              <a:spcBef>
                <a:spcPts val="100"/>
              </a:spcBef>
            </a:pPr>
            <a:r>
              <a:rPr sz="1300" b="0">
                <a:solidFill>
                  <a:srgbClr val="E5E7EB"/>
                </a:solidFill>
              </a:rPr>
              <a:t>  · Agent only retrieves chunks from that project's sources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005840"/>
            <a:ext cx="5303520" cy="365760"/>
          </a:xfrm>
          <a:prstGeom prst="rect">
            <a:avLst/>
          </a:prstGeom>
          <a:solidFill>
            <a:srgbClr val="2D374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024128"/>
            <a:ext cx="5120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97316"/>
                </a:solidFill>
              </a:rPr>
              <a:t>Retrieval at Runtime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46304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500" b="1">
                <a:solidFill>
                  <a:srgbClr val="FFFFFF"/>
                </a:solidFill>
              </a:rPr>
              <a:t>▸ RegulatoryScreeningAgent receives project_id</a:t>
            </a:r>
          </a:p>
          <a:p>
            <a:pPr lvl="1">
              <a:spcBef>
                <a:spcPts val="100"/>
              </a:spcBef>
            </a:pPr>
            <a:r>
              <a:rPr sz="1300" b="0">
                <a:solidFill>
                  <a:srgbClr val="E5E7EB"/>
                </a:solidFill>
              </a:rPr>
              <a:t>  · Falls back to all sources if none assigned</a:t>
            </a:r>
          </a:p>
          <a:p>
            <a:pPr>
              <a:spcBef>
                <a:spcPts val="300"/>
              </a:spcBef>
            </a:pPr>
            <a:r>
              <a:rPr sz="1500" b="1">
                <a:solidFill>
                  <a:srgbClr val="FFFFFF"/>
                </a:solidFill>
              </a:rPr>
              <a:t>▸ Top-K similarity search scoped to project sources</a:t>
            </a:r>
          </a:p>
          <a:p>
            <a:pPr>
              <a:spcBef>
                <a:spcPts val="300"/>
              </a:spcBef>
            </a:pPr>
            <a:r>
              <a:rPr sz="1500" b="1">
                <a:solidFill>
                  <a:srgbClr val="FFFFFF"/>
                </a:solidFill>
              </a:rPr>
              <a:t>▸ LLM reasons over retrieved chunks to identify regulations</a:t>
            </a:r>
          </a:p>
          <a:p>
            <a:pPr lvl="1">
              <a:spcBef>
                <a:spcPts val="100"/>
              </a:spcBef>
            </a:pPr>
            <a:r>
              <a:rPr sz="1300" b="0">
                <a:solidFill>
                  <a:srgbClr val="E5E7EB"/>
                </a:solidFill>
              </a:rPr>
              <a:t>  · Outputs: name, citation, jurisdiction, why triggered</a:t>
            </a:r>
          </a:p>
          <a:p>
            <a:pPr>
              <a:spcBef>
                <a:spcPts val="300"/>
              </a:spcBef>
            </a:pPr>
            <a:r>
              <a:rPr sz="1500" b="1">
                <a:solidFill>
                  <a:srgbClr val="FFFFFF"/>
                </a:solidFill>
              </a:rPr>
              <a:t>▸ Result feeds directly into Impact Analysis prompt</a:t>
            </a:r>
          </a:p>
          <a:p>
            <a:pPr lvl="1">
              <a:spcBef>
                <a:spcPts val="100"/>
              </a:spcBef>
            </a:pPr>
            <a:r>
              <a:rPr sz="1300" b="0">
                <a:solidFill>
                  <a:srgbClr val="E5E7EB"/>
                </a:solidFill>
              </a:rPr>
              <a:t>  · Explicit regulatory traceability in every cell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8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97316"/>
                </a:solidFill>
              </a:rPr>
              <a:t>Regulatory Screening — RAG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14400"/>
            <a:ext cx="11064240" cy="18288"/>
          </a:xfrm>
          <a:prstGeom prst="rect">
            <a:avLst/>
          </a:prstGeom>
          <a:solidFill>
            <a:srgbClr val="3D4A5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005840"/>
            <a:ext cx="5303520" cy="365760"/>
          </a:xfrm>
          <a:prstGeom prst="rect">
            <a:avLst/>
          </a:prstGeom>
          <a:solidFill>
            <a:srgbClr val="2D374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024128"/>
            <a:ext cx="5120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97316"/>
                </a:solidFill>
              </a:rPr>
              <a:t>Ingestion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6304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500" b="1">
                <a:solidFill>
                  <a:srgbClr val="FFFFFF"/>
                </a:solidFill>
              </a:rPr>
              <a:t>▸ PDF uploads via /api/regulations/sources</a:t>
            </a:r>
          </a:p>
          <a:p>
            <a:pPr lvl="1">
              <a:spcBef>
                <a:spcPts val="100"/>
              </a:spcBef>
            </a:pPr>
            <a:r>
              <a:rPr sz="1300" b="0">
                <a:solidFill>
                  <a:srgbClr val="E5E7EB"/>
                </a:solidFill>
              </a:rPr>
              <a:t>  · Federal CFR/statute PDFs, Pennsylvania Code</a:t>
            </a:r>
          </a:p>
          <a:p>
            <a:pPr>
              <a:spcBef>
                <a:spcPts val="300"/>
              </a:spcBef>
            </a:pPr>
            <a:r>
              <a:rPr sz="1500" b="1">
                <a:solidFill>
                  <a:srgbClr val="FFFFFF"/>
                </a:solidFill>
              </a:rPr>
              <a:t>▸ eCFR live XML via /api/regulations/sources/ecfr</a:t>
            </a:r>
          </a:p>
          <a:p>
            <a:pPr lvl="1">
              <a:spcBef>
                <a:spcPts val="100"/>
              </a:spcBef>
            </a:pPr>
            <a:r>
              <a:rPr sz="1300" b="0">
                <a:solidFill>
                  <a:srgbClr val="E5E7EB"/>
                </a:solidFill>
              </a:rPr>
              <a:t>  · Versioner API pulls any CFR part by title+part+date</a:t>
            </a:r>
          </a:p>
          <a:p>
            <a:pPr>
              <a:spcBef>
                <a:spcPts val="300"/>
              </a:spcBef>
            </a:pPr>
            <a:r>
              <a:rPr sz="1500" b="1">
                <a:solidFill>
                  <a:srgbClr val="FFFFFF"/>
                </a:solidFill>
              </a:rPr>
              <a:t>▸ Parsed → chunked → embedded → pgvector (HNSW index)</a:t>
            </a:r>
          </a:p>
          <a:p>
            <a:pPr lvl="1">
              <a:spcBef>
                <a:spcPts val="100"/>
              </a:spcBef>
            </a:pPr>
            <a:r>
              <a:rPr sz="1300" b="0">
                <a:solidFill>
                  <a:srgbClr val="E5E7EB"/>
                </a:solidFill>
              </a:rPr>
              <a:t>  · HNSW cosine index for sub-millisecond ANN retrieval</a:t>
            </a:r>
          </a:p>
          <a:p>
            <a:pPr>
              <a:spcBef>
                <a:spcPts val="300"/>
              </a:spcBef>
            </a:pPr>
            <a:r>
              <a:rPr sz="1500" b="1">
                <a:solidFill>
                  <a:srgbClr val="FFFFFF"/>
                </a:solidFill>
              </a:rPr>
              <a:t>▸ Regulatory source assigned to specific project</a:t>
            </a:r>
          </a:p>
          <a:p>
            <a:pPr lvl="1">
              <a:spcBef>
                <a:spcPts val="100"/>
              </a:spcBef>
            </a:pPr>
            <a:r>
              <a:rPr sz="1300" b="0">
                <a:solidFill>
                  <a:srgbClr val="E5E7EB"/>
                </a:solidFill>
              </a:rPr>
              <a:t>  · Agent only retrieves chunks from that project's sources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005840"/>
            <a:ext cx="5303520" cy="365760"/>
          </a:xfrm>
          <a:prstGeom prst="rect">
            <a:avLst/>
          </a:prstGeom>
          <a:solidFill>
            <a:srgbClr val="2D374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024128"/>
            <a:ext cx="5120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97316"/>
                </a:solidFill>
              </a:rPr>
              <a:t>Retrieval at Runtime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46304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500" b="1">
                <a:solidFill>
                  <a:srgbClr val="FFFFFF"/>
                </a:solidFill>
              </a:rPr>
              <a:t>▸ RegulatoryScreeningAgent receives project_id</a:t>
            </a:r>
          </a:p>
          <a:p>
            <a:pPr lvl="1">
              <a:spcBef>
                <a:spcPts val="100"/>
              </a:spcBef>
            </a:pPr>
            <a:r>
              <a:rPr sz="1300" b="0">
                <a:solidFill>
                  <a:srgbClr val="E5E7EB"/>
                </a:solidFill>
              </a:rPr>
              <a:t>  · Falls back to all sources if none assigned</a:t>
            </a:r>
          </a:p>
          <a:p>
            <a:pPr>
              <a:spcBef>
                <a:spcPts val="300"/>
              </a:spcBef>
            </a:pPr>
            <a:r>
              <a:rPr sz="1500" b="1">
                <a:solidFill>
                  <a:srgbClr val="FFFFFF"/>
                </a:solidFill>
              </a:rPr>
              <a:t>▸ Top-K similarity search scoped to project sources</a:t>
            </a:r>
          </a:p>
          <a:p>
            <a:pPr>
              <a:spcBef>
                <a:spcPts val="300"/>
              </a:spcBef>
            </a:pPr>
            <a:r>
              <a:rPr sz="1500" b="1">
                <a:solidFill>
                  <a:srgbClr val="FFFFFF"/>
                </a:solidFill>
              </a:rPr>
              <a:t>▸ LLM reasons over retrieved chunks to identify regulations</a:t>
            </a:r>
          </a:p>
          <a:p>
            <a:pPr lvl="1">
              <a:spcBef>
                <a:spcPts val="100"/>
              </a:spcBef>
            </a:pPr>
            <a:r>
              <a:rPr sz="1300" b="0">
                <a:solidFill>
                  <a:srgbClr val="E5E7EB"/>
                </a:solidFill>
              </a:rPr>
              <a:t>  · Outputs: name, citation, jurisdiction, why triggered</a:t>
            </a:r>
          </a:p>
          <a:p>
            <a:pPr>
              <a:spcBef>
                <a:spcPts val="300"/>
              </a:spcBef>
            </a:pPr>
            <a:r>
              <a:rPr sz="1500" b="1">
                <a:solidFill>
                  <a:srgbClr val="FFFFFF"/>
                </a:solidFill>
              </a:rPr>
              <a:t>▸ Result feeds directly into Impact Analysis prompt</a:t>
            </a:r>
          </a:p>
          <a:p>
            <a:pPr lvl="1">
              <a:spcBef>
                <a:spcPts val="100"/>
              </a:spcBef>
            </a:pPr>
            <a:r>
              <a:rPr sz="1300" b="0">
                <a:solidFill>
                  <a:srgbClr val="E5E7EB"/>
                </a:solidFill>
              </a:rPr>
              <a:t>  · Explicit regulatory traceability in every cell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8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97316"/>
                </a:solidFill>
              </a:rPr>
              <a:t>Impact Matrix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14400"/>
            <a:ext cx="11064240" cy="18288"/>
          </a:xfrm>
          <a:prstGeom prst="rect">
            <a:avLst/>
          </a:prstGeom>
          <a:solidFill>
            <a:srgbClr val="3D4A5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5E7EB"/>
                </a:solidFill>
              </a:rPr>
              <a:t>2D matrix: project actions (columns) × environmental resource categories (rows)
One cell per (action × category × applicable regulation)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1883664" cy="411480"/>
          </a:xfrm>
          <a:prstGeom prst="rect">
            <a:avLst/>
          </a:prstGeom>
          <a:solidFill>
            <a:srgbClr val="1A202C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79222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7316"/>
                </a:solidFill>
              </a:rPr>
              <a:t>Category</a:t>
            </a:r>
          </a:p>
        </p:txBody>
      </p:sp>
      <p:sp>
        <p:nvSpPr>
          <p:cNvPr id="9" name="Rectangle 8"/>
          <p:cNvSpPr/>
          <p:nvPr/>
        </p:nvSpPr>
        <p:spPr>
          <a:xfrm>
            <a:off x="2468880" y="1737360"/>
            <a:ext cx="1883664" cy="411480"/>
          </a:xfrm>
          <a:prstGeom prst="rect">
            <a:avLst/>
          </a:prstGeom>
          <a:solidFill>
            <a:srgbClr val="1A202C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42032" y="179222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7316"/>
                </a:solidFill>
              </a:rPr>
              <a:t>Site Prep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0" y="1737360"/>
            <a:ext cx="1883664" cy="411480"/>
          </a:xfrm>
          <a:prstGeom prst="rect">
            <a:avLst/>
          </a:prstGeom>
          <a:solidFill>
            <a:srgbClr val="1A202C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62272" y="179222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7316"/>
                </a:solidFill>
              </a:rPr>
              <a:t>Construction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737360"/>
            <a:ext cx="1883664" cy="411480"/>
          </a:xfrm>
          <a:prstGeom prst="rect">
            <a:avLst/>
          </a:prstGeom>
          <a:solidFill>
            <a:srgbClr val="1A202C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179222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7316"/>
                </a:solidFill>
              </a:rPr>
              <a:t>Operation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176272"/>
            <a:ext cx="1883664" cy="411480"/>
          </a:xfrm>
          <a:prstGeom prst="rect">
            <a:avLst/>
          </a:prstGeom>
          <a:solidFill>
            <a:srgbClr val="1A202C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2231136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Wetlands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68880" y="2176272"/>
            <a:ext cx="1883664" cy="411480"/>
          </a:xfrm>
          <a:prstGeom prst="rect">
            <a:avLst/>
          </a:prstGeom>
          <a:solidFill>
            <a:srgbClr val="2D3748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42032" y="2231136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AB308"/>
                </a:solidFill>
              </a:rPr>
              <a:t>moderate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120" y="2176272"/>
            <a:ext cx="1883664" cy="411480"/>
          </a:xfrm>
          <a:prstGeom prst="rect">
            <a:avLst/>
          </a:prstGeom>
          <a:solidFill>
            <a:srgbClr val="2D3748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62272" y="2231136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F4444"/>
                </a:solidFill>
              </a:rPr>
              <a:t>significant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2176272"/>
            <a:ext cx="1883664" cy="411480"/>
          </a:xfrm>
          <a:prstGeom prst="rect">
            <a:avLst/>
          </a:prstGeom>
          <a:solidFill>
            <a:srgbClr val="2D3748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82512" y="2231136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C55E"/>
                </a:solidFill>
              </a:rPr>
              <a:t>minimal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2615184"/>
            <a:ext cx="1883664" cy="411480"/>
          </a:xfrm>
          <a:prstGeom prst="rect">
            <a:avLst/>
          </a:prstGeom>
          <a:solidFill>
            <a:srgbClr val="1A202C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1792" y="267004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Endangered Spp.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68880" y="2615184"/>
            <a:ext cx="1883664" cy="411480"/>
          </a:xfrm>
          <a:prstGeom prst="rect">
            <a:avLst/>
          </a:prstGeom>
          <a:solidFill>
            <a:srgbClr val="2D3748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542032" y="267004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6B6D3"/>
                </a:solidFill>
              </a:rPr>
              <a:t>none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89120" y="2615184"/>
            <a:ext cx="1883664" cy="411480"/>
          </a:xfrm>
          <a:prstGeom prst="rect">
            <a:avLst/>
          </a:prstGeom>
          <a:solidFill>
            <a:srgbClr val="2D3748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62272" y="267004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F4444"/>
                </a:solidFill>
              </a:rPr>
              <a:t>significant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2615184"/>
            <a:ext cx="1883664" cy="411480"/>
          </a:xfrm>
          <a:prstGeom prst="rect">
            <a:avLst/>
          </a:prstGeom>
          <a:solidFill>
            <a:srgbClr val="2D3748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82512" y="267004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6B6D3"/>
                </a:solidFill>
              </a:rPr>
              <a:t>none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3054096"/>
            <a:ext cx="1883664" cy="411480"/>
          </a:xfrm>
          <a:prstGeom prst="rect">
            <a:avLst/>
          </a:prstGeom>
          <a:solidFill>
            <a:srgbClr val="1A202C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1792" y="310896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Floodplain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468880" y="3054096"/>
            <a:ext cx="1883664" cy="411480"/>
          </a:xfrm>
          <a:prstGeom prst="rect">
            <a:avLst/>
          </a:prstGeom>
          <a:solidFill>
            <a:srgbClr val="2D3748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542032" y="310896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AB308"/>
                </a:solidFill>
              </a:rPr>
              <a:t>moderate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89120" y="3054096"/>
            <a:ext cx="1883664" cy="411480"/>
          </a:xfrm>
          <a:prstGeom prst="rect">
            <a:avLst/>
          </a:prstGeom>
          <a:solidFill>
            <a:srgbClr val="2D3748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62272" y="310896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AB308"/>
                </a:solidFill>
              </a:rPr>
              <a:t>moderate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09360" y="3054096"/>
            <a:ext cx="1883664" cy="411480"/>
          </a:xfrm>
          <a:prstGeom prst="rect">
            <a:avLst/>
          </a:prstGeom>
          <a:solidFill>
            <a:srgbClr val="2D3748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82512" y="310896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6B6D3"/>
                </a:solidFill>
              </a:rPr>
              <a:t>none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3493008"/>
            <a:ext cx="1883664" cy="411480"/>
          </a:xfrm>
          <a:prstGeom prst="rect">
            <a:avLst/>
          </a:prstGeom>
          <a:solidFill>
            <a:srgbClr val="1A202C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1792" y="354787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Air Quality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468880" y="3493008"/>
            <a:ext cx="1883664" cy="411480"/>
          </a:xfrm>
          <a:prstGeom prst="rect">
            <a:avLst/>
          </a:prstGeom>
          <a:solidFill>
            <a:srgbClr val="2D3748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542032" y="354787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C55E"/>
                </a:solidFill>
              </a:rPr>
              <a:t>minimal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0" y="3493008"/>
            <a:ext cx="1883664" cy="411480"/>
          </a:xfrm>
          <a:prstGeom prst="rect">
            <a:avLst/>
          </a:prstGeom>
          <a:solidFill>
            <a:srgbClr val="2D3748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462272" y="354787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AB308"/>
                </a:solidFill>
              </a:rPr>
              <a:t>moderate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09360" y="3493008"/>
            <a:ext cx="1883664" cy="411480"/>
          </a:xfrm>
          <a:prstGeom prst="rect">
            <a:avLst/>
          </a:prstGeom>
          <a:solidFill>
            <a:srgbClr val="2D3748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82512" y="354787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C55E"/>
                </a:solidFill>
              </a:rPr>
              <a:t>minimal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8640" y="3931920"/>
            <a:ext cx="1883664" cy="411480"/>
          </a:xfrm>
          <a:prstGeom prst="rect">
            <a:avLst/>
          </a:prstGeom>
          <a:solidFill>
            <a:srgbClr val="1A202C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1792" y="398678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Env. Justice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468880" y="3931920"/>
            <a:ext cx="1883664" cy="411480"/>
          </a:xfrm>
          <a:prstGeom prst="rect">
            <a:avLst/>
          </a:prstGeom>
          <a:solidFill>
            <a:srgbClr val="2D3748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542032" y="398678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6B6D3"/>
                </a:solidFill>
              </a:rPr>
              <a:t>none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120" y="3931920"/>
            <a:ext cx="1883664" cy="411480"/>
          </a:xfrm>
          <a:prstGeom prst="rect">
            <a:avLst/>
          </a:prstGeom>
          <a:solidFill>
            <a:srgbClr val="2D3748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462272" y="398678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AB308"/>
                </a:solidFill>
              </a:rPr>
              <a:t>moderate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309360" y="3931920"/>
            <a:ext cx="1883664" cy="411480"/>
          </a:xfrm>
          <a:prstGeom prst="rect">
            <a:avLst/>
          </a:prstGeom>
          <a:solidFill>
            <a:srgbClr val="2D3748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82512" y="398678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C55E"/>
                </a:solidFill>
              </a:rPr>
              <a:t>minimal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863840" y="1691640"/>
            <a:ext cx="4023360" cy="3200400"/>
          </a:xfrm>
          <a:prstGeom prst="rect">
            <a:avLst/>
          </a:prstGeom>
          <a:solidFill>
            <a:srgbClr val="2D3748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955280" y="303784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F97316"/>
                </a:solidFill>
              </a:rPr>
              <a:t>[ IMAGE PLACEHOLDER: Live impact matrix from agent run ]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8640" y="46634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Significance scale: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286000" y="4700016"/>
            <a:ext cx="164592" cy="164592"/>
          </a:xfrm>
          <a:prstGeom prst="rect">
            <a:avLst/>
          </a:prstGeom>
          <a:solidFill>
            <a:srgbClr val="EF444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514600" y="46634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F4444"/>
                </a:solidFill>
              </a:rPr>
              <a:t>significant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703320" y="4700016"/>
            <a:ext cx="164592" cy="164592"/>
          </a:xfrm>
          <a:prstGeom prst="rect">
            <a:avLst/>
          </a:prstGeom>
          <a:solidFill>
            <a:srgbClr val="EAB30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931920" y="46634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AB308"/>
                </a:solidFill>
              </a:rPr>
              <a:t>moderate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120640" y="4700016"/>
            <a:ext cx="164592" cy="164592"/>
          </a:xfrm>
          <a:prstGeom prst="rect">
            <a:avLst/>
          </a:prstGeom>
          <a:solidFill>
            <a:srgbClr val="22C55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349240" y="46634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C55E"/>
                </a:solidFill>
              </a:rPr>
              <a:t>minimal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537960" y="4700016"/>
            <a:ext cx="164592" cy="164592"/>
          </a:xfrm>
          <a:prstGeom prst="rect">
            <a:avLst/>
          </a:prstGeom>
          <a:solidFill>
            <a:srgbClr val="06B6D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766560" y="46634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6B6D3"/>
                </a:solidFill>
              </a:rPr>
              <a:t>none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48640" y="5120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5E7EB"/>
                </a:solidFill>
              </a:rPr>
              <a:t>Each cell contains: significance · confidence (0–1) · reasoning (1–2 sentences) · mitigation types · needs_review flag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8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97316"/>
                </a:solidFill>
              </a:rPr>
              <a:t>Impact Matrix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14400"/>
            <a:ext cx="11064240" cy="18288"/>
          </a:xfrm>
          <a:prstGeom prst="rect">
            <a:avLst/>
          </a:prstGeom>
          <a:solidFill>
            <a:srgbClr val="3D4A5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5E7EB"/>
                </a:solidFill>
              </a:rPr>
              <a:t>2D matrix: project actions (columns) × environmental resource categories (rows)
One cell per (action × category × applicable regulation)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1883664" cy="411480"/>
          </a:xfrm>
          <a:prstGeom prst="rect">
            <a:avLst/>
          </a:prstGeom>
          <a:solidFill>
            <a:srgbClr val="1A202C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79222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7316"/>
                </a:solidFill>
              </a:rPr>
              <a:t>Category</a:t>
            </a:r>
          </a:p>
        </p:txBody>
      </p:sp>
      <p:sp>
        <p:nvSpPr>
          <p:cNvPr id="9" name="Rectangle 8"/>
          <p:cNvSpPr/>
          <p:nvPr/>
        </p:nvSpPr>
        <p:spPr>
          <a:xfrm>
            <a:off x="2468880" y="1737360"/>
            <a:ext cx="1883664" cy="411480"/>
          </a:xfrm>
          <a:prstGeom prst="rect">
            <a:avLst/>
          </a:prstGeom>
          <a:solidFill>
            <a:srgbClr val="1A202C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42032" y="179222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7316"/>
                </a:solidFill>
              </a:rPr>
              <a:t>Site Prep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0" y="1737360"/>
            <a:ext cx="1883664" cy="411480"/>
          </a:xfrm>
          <a:prstGeom prst="rect">
            <a:avLst/>
          </a:prstGeom>
          <a:solidFill>
            <a:srgbClr val="1A202C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62272" y="179222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7316"/>
                </a:solidFill>
              </a:rPr>
              <a:t>Construction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737360"/>
            <a:ext cx="1883664" cy="411480"/>
          </a:xfrm>
          <a:prstGeom prst="rect">
            <a:avLst/>
          </a:prstGeom>
          <a:solidFill>
            <a:srgbClr val="1A202C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179222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7316"/>
                </a:solidFill>
              </a:rPr>
              <a:t>Operation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176272"/>
            <a:ext cx="1883664" cy="411480"/>
          </a:xfrm>
          <a:prstGeom prst="rect">
            <a:avLst/>
          </a:prstGeom>
          <a:solidFill>
            <a:srgbClr val="1A202C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2231136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Wetlands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68880" y="2176272"/>
            <a:ext cx="1883664" cy="411480"/>
          </a:xfrm>
          <a:prstGeom prst="rect">
            <a:avLst/>
          </a:prstGeom>
          <a:solidFill>
            <a:srgbClr val="2D3748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42032" y="2231136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AB308"/>
                </a:solidFill>
              </a:rPr>
              <a:t>moderate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120" y="2176272"/>
            <a:ext cx="1883664" cy="411480"/>
          </a:xfrm>
          <a:prstGeom prst="rect">
            <a:avLst/>
          </a:prstGeom>
          <a:solidFill>
            <a:srgbClr val="2D3748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62272" y="2231136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F4444"/>
                </a:solidFill>
              </a:rPr>
              <a:t>significant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2176272"/>
            <a:ext cx="1883664" cy="411480"/>
          </a:xfrm>
          <a:prstGeom prst="rect">
            <a:avLst/>
          </a:prstGeom>
          <a:solidFill>
            <a:srgbClr val="2D3748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82512" y="2231136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C55E"/>
                </a:solidFill>
              </a:rPr>
              <a:t>minimal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2615184"/>
            <a:ext cx="1883664" cy="411480"/>
          </a:xfrm>
          <a:prstGeom prst="rect">
            <a:avLst/>
          </a:prstGeom>
          <a:solidFill>
            <a:srgbClr val="1A202C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1792" y="267004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Endangered Spp.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68880" y="2615184"/>
            <a:ext cx="1883664" cy="411480"/>
          </a:xfrm>
          <a:prstGeom prst="rect">
            <a:avLst/>
          </a:prstGeom>
          <a:solidFill>
            <a:srgbClr val="2D3748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542032" y="267004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6B6D3"/>
                </a:solidFill>
              </a:rPr>
              <a:t>none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89120" y="2615184"/>
            <a:ext cx="1883664" cy="411480"/>
          </a:xfrm>
          <a:prstGeom prst="rect">
            <a:avLst/>
          </a:prstGeom>
          <a:solidFill>
            <a:srgbClr val="2D3748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62272" y="267004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F4444"/>
                </a:solidFill>
              </a:rPr>
              <a:t>significant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2615184"/>
            <a:ext cx="1883664" cy="411480"/>
          </a:xfrm>
          <a:prstGeom prst="rect">
            <a:avLst/>
          </a:prstGeom>
          <a:solidFill>
            <a:srgbClr val="2D3748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82512" y="267004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6B6D3"/>
                </a:solidFill>
              </a:rPr>
              <a:t>none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3054096"/>
            <a:ext cx="1883664" cy="411480"/>
          </a:xfrm>
          <a:prstGeom prst="rect">
            <a:avLst/>
          </a:prstGeom>
          <a:solidFill>
            <a:srgbClr val="1A202C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1792" y="310896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Floodplain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468880" y="3054096"/>
            <a:ext cx="1883664" cy="411480"/>
          </a:xfrm>
          <a:prstGeom prst="rect">
            <a:avLst/>
          </a:prstGeom>
          <a:solidFill>
            <a:srgbClr val="2D3748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542032" y="310896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AB308"/>
                </a:solidFill>
              </a:rPr>
              <a:t>moderate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89120" y="3054096"/>
            <a:ext cx="1883664" cy="411480"/>
          </a:xfrm>
          <a:prstGeom prst="rect">
            <a:avLst/>
          </a:prstGeom>
          <a:solidFill>
            <a:srgbClr val="2D3748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62272" y="310896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AB308"/>
                </a:solidFill>
              </a:rPr>
              <a:t>moderate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09360" y="3054096"/>
            <a:ext cx="1883664" cy="411480"/>
          </a:xfrm>
          <a:prstGeom prst="rect">
            <a:avLst/>
          </a:prstGeom>
          <a:solidFill>
            <a:srgbClr val="2D3748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82512" y="310896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6B6D3"/>
                </a:solidFill>
              </a:rPr>
              <a:t>none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3493008"/>
            <a:ext cx="1883664" cy="411480"/>
          </a:xfrm>
          <a:prstGeom prst="rect">
            <a:avLst/>
          </a:prstGeom>
          <a:solidFill>
            <a:srgbClr val="1A202C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1792" y="354787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Air Quality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468880" y="3493008"/>
            <a:ext cx="1883664" cy="411480"/>
          </a:xfrm>
          <a:prstGeom prst="rect">
            <a:avLst/>
          </a:prstGeom>
          <a:solidFill>
            <a:srgbClr val="2D3748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542032" y="354787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C55E"/>
                </a:solidFill>
              </a:rPr>
              <a:t>minimal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0" y="3493008"/>
            <a:ext cx="1883664" cy="411480"/>
          </a:xfrm>
          <a:prstGeom prst="rect">
            <a:avLst/>
          </a:prstGeom>
          <a:solidFill>
            <a:srgbClr val="2D3748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462272" y="354787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AB308"/>
                </a:solidFill>
              </a:rPr>
              <a:t>moderate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09360" y="3493008"/>
            <a:ext cx="1883664" cy="411480"/>
          </a:xfrm>
          <a:prstGeom prst="rect">
            <a:avLst/>
          </a:prstGeom>
          <a:solidFill>
            <a:srgbClr val="2D3748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82512" y="354787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C55E"/>
                </a:solidFill>
              </a:rPr>
              <a:t>minimal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8640" y="3931920"/>
            <a:ext cx="1883664" cy="411480"/>
          </a:xfrm>
          <a:prstGeom prst="rect">
            <a:avLst/>
          </a:prstGeom>
          <a:solidFill>
            <a:srgbClr val="1A202C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1792" y="398678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Env. Justice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468880" y="3931920"/>
            <a:ext cx="1883664" cy="411480"/>
          </a:xfrm>
          <a:prstGeom prst="rect">
            <a:avLst/>
          </a:prstGeom>
          <a:solidFill>
            <a:srgbClr val="2D3748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542032" y="398678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6B6D3"/>
                </a:solidFill>
              </a:rPr>
              <a:t>none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120" y="3931920"/>
            <a:ext cx="1883664" cy="411480"/>
          </a:xfrm>
          <a:prstGeom prst="rect">
            <a:avLst/>
          </a:prstGeom>
          <a:solidFill>
            <a:srgbClr val="2D3748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462272" y="398678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AB308"/>
                </a:solidFill>
              </a:rPr>
              <a:t>moderate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309360" y="3931920"/>
            <a:ext cx="1883664" cy="411480"/>
          </a:xfrm>
          <a:prstGeom prst="rect">
            <a:avLst/>
          </a:prstGeom>
          <a:solidFill>
            <a:srgbClr val="2D3748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82512" y="398678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C55E"/>
                </a:solidFill>
              </a:rPr>
              <a:t>minimal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863840" y="1691640"/>
            <a:ext cx="4023360" cy="3200400"/>
          </a:xfrm>
          <a:prstGeom prst="rect">
            <a:avLst/>
          </a:prstGeom>
          <a:solidFill>
            <a:srgbClr val="2D3748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955280" y="303784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F97316"/>
                </a:solidFill>
              </a:rPr>
              <a:t>[ IMAGE PLACEHOLDER: Live impact matrix from agent run ]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8640" y="46634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Significance scale: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286000" y="4700016"/>
            <a:ext cx="164592" cy="164592"/>
          </a:xfrm>
          <a:prstGeom prst="rect">
            <a:avLst/>
          </a:prstGeom>
          <a:solidFill>
            <a:srgbClr val="EF444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514600" y="46634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F4444"/>
                </a:solidFill>
              </a:rPr>
              <a:t>significant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703320" y="4700016"/>
            <a:ext cx="164592" cy="164592"/>
          </a:xfrm>
          <a:prstGeom prst="rect">
            <a:avLst/>
          </a:prstGeom>
          <a:solidFill>
            <a:srgbClr val="EAB30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931920" y="46634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AB308"/>
                </a:solidFill>
              </a:rPr>
              <a:t>moderate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120640" y="4700016"/>
            <a:ext cx="164592" cy="164592"/>
          </a:xfrm>
          <a:prstGeom prst="rect">
            <a:avLst/>
          </a:prstGeom>
          <a:solidFill>
            <a:srgbClr val="22C55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349240" y="46634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C55E"/>
                </a:solidFill>
              </a:rPr>
              <a:t>minimal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537960" y="4700016"/>
            <a:ext cx="164592" cy="164592"/>
          </a:xfrm>
          <a:prstGeom prst="rect">
            <a:avLst/>
          </a:prstGeom>
          <a:solidFill>
            <a:srgbClr val="06B6D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766560" y="46634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6B6D3"/>
                </a:solidFill>
              </a:rPr>
              <a:t>none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48640" y="5120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5E7EB"/>
                </a:solidFill>
              </a:rPr>
              <a:t>Each cell contains: significance · confidence (0–1) · reasoning (1–2 sentences) · mitigation types · needs_review flag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8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97316"/>
                </a:solidFill>
              </a:rPr>
              <a:t>Confidence Score Calculation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14400"/>
            <a:ext cx="11064240" cy="18288"/>
          </a:xfrm>
          <a:prstGeom prst="rect">
            <a:avLst/>
          </a:prstGeom>
          <a:solidFill>
            <a:srgbClr val="3D4A5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5E7EB"/>
                </a:solidFill>
              </a:rPr>
              <a:t>The LLM assigns a confidence score (0.0–1.0) to each impact cell based on data quality and regulatory specificity.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63040"/>
            <a:ext cx="11064240" cy="347472"/>
          </a:xfrm>
          <a:prstGeom prst="rect">
            <a:avLst/>
          </a:prstGeom>
          <a:solidFill>
            <a:srgbClr val="1A20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51790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7316"/>
                </a:solidFill>
              </a:rPr>
              <a:t>SCORE RANGE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93392" y="151790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7316"/>
                </a:solidFill>
              </a:rPr>
              <a:t>TIER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73552" y="1517904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7316"/>
                </a:solidFill>
              </a:rPr>
              <a:t>WHAT IT MEANS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810512"/>
            <a:ext cx="11064240" cy="621792"/>
          </a:xfrm>
          <a:prstGeom prst="rect">
            <a:avLst/>
          </a:prstGeom>
          <a:solidFill>
            <a:srgbClr val="2D3748"/>
          </a:solidFill>
          <a:ln w="6350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883664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2C55E"/>
                </a:solidFill>
              </a:rPr>
              <a:t>0.85 – 1.0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1883664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2C55E"/>
                </a:solidFill>
              </a:rPr>
              <a:t>HIGH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1856232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API returned specific quantified data AND regulation includes explicit numeric thresholds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468880"/>
            <a:ext cx="11064240" cy="621792"/>
          </a:xfrm>
          <a:prstGeom prst="rect">
            <a:avLst/>
          </a:prstGeom>
          <a:solidFill>
            <a:srgbClr val="2D3748"/>
          </a:solidFill>
          <a:ln w="6350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542032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6B6D3"/>
                </a:solidFill>
              </a:rPr>
              <a:t>0.65 – 0.84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2542032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B6D3"/>
                </a:solidFill>
              </a:rPr>
              <a:t>GOOD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2514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Data available from APIs but regulatory threshold is a judgment call (no explicit numeric threshold)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127248"/>
            <a:ext cx="11064240" cy="621792"/>
          </a:xfrm>
          <a:prstGeom prst="rect">
            <a:avLst/>
          </a:prstGeom>
          <a:solidFill>
            <a:srgbClr val="2D3748"/>
          </a:solidFill>
          <a:ln w="6350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320040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AB308"/>
                </a:solidFill>
              </a:rPr>
              <a:t>0.45 – 0.64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20240" y="320040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AB308"/>
                </a:solidFill>
              </a:rPr>
              <a:t>MODERATE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3172968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Only partial data (some APIs errored / returned empty) or regulation is tangentially related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785616"/>
            <a:ext cx="11064240" cy="621792"/>
          </a:xfrm>
          <a:prstGeom prst="rect">
            <a:avLst/>
          </a:prstGeom>
          <a:solidFill>
            <a:srgbClr val="2D3748"/>
          </a:solidFill>
          <a:ln w="6350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3858768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97316"/>
                </a:solidFill>
              </a:rPr>
              <a:t>0.25 – 0.44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3858768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97316"/>
                </a:solidFill>
              </a:rPr>
              <a:t>LOW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3831336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No direct data — determination relies on general domain knowledge about this project type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443984"/>
            <a:ext cx="11064240" cy="621792"/>
          </a:xfrm>
          <a:prstGeom prst="rect">
            <a:avLst/>
          </a:prstGeom>
          <a:solidFill>
            <a:srgbClr val="2D3748"/>
          </a:solidFill>
          <a:ln w="6350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4517136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F4444"/>
                </a:solidFill>
              </a:rPr>
              <a:t>0.00 – 0.24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20240" y="4517136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</a:rPr>
              <a:t>VERY LOW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4489704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Pure extrapolation — no supporting data or regulatory context available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6217920"/>
            <a:ext cx="11064240" cy="411480"/>
          </a:xfrm>
          <a:prstGeom prst="rect">
            <a:avLst/>
          </a:prstGeom>
          <a:solidFill>
            <a:srgbClr val="3B1A1A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6245352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F4444"/>
                </a:solidFill>
              </a:rPr>
              <a:t>⚑  needs_review = True  when  confidence &lt; 0.60  — cell is flagged in the UI for human expert review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8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97316"/>
                </a:solidFill>
              </a:rPr>
              <a:t>Confidence Score Calculation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14400"/>
            <a:ext cx="11064240" cy="18288"/>
          </a:xfrm>
          <a:prstGeom prst="rect">
            <a:avLst/>
          </a:prstGeom>
          <a:solidFill>
            <a:srgbClr val="3D4A5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5E7EB"/>
                </a:solidFill>
              </a:rPr>
              <a:t>The LLM assigns a confidence score (0.0–1.0) to each impact cell based on data quality and regulatory specificity.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63040"/>
            <a:ext cx="11064240" cy="347472"/>
          </a:xfrm>
          <a:prstGeom prst="rect">
            <a:avLst/>
          </a:prstGeom>
          <a:solidFill>
            <a:srgbClr val="1A20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51790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7316"/>
                </a:solidFill>
              </a:rPr>
              <a:t>SCORE RANGE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93392" y="151790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7316"/>
                </a:solidFill>
              </a:rPr>
              <a:t>TIER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73552" y="1517904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7316"/>
                </a:solidFill>
              </a:rPr>
              <a:t>WHAT IT MEANS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810512"/>
            <a:ext cx="11064240" cy="621792"/>
          </a:xfrm>
          <a:prstGeom prst="rect">
            <a:avLst/>
          </a:prstGeom>
          <a:solidFill>
            <a:srgbClr val="2D3748"/>
          </a:solidFill>
          <a:ln w="6350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883664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2C55E"/>
                </a:solidFill>
              </a:rPr>
              <a:t>0.85 – 1.0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1883664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2C55E"/>
                </a:solidFill>
              </a:rPr>
              <a:t>HIGH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1856232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API returned specific quantified data AND regulation includes explicit numeric thresholds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468880"/>
            <a:ext cx="11064240" cy="621792"/>
          </a:xfrm>
          <a:prstGeom prst="rect">
            <a:avLst/>
          </a:prstGeom>
          <a:solidFill>
            <a:srgbClr val="2D3748"/>
          </a:solidFill>
          <a:ln w="6350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542032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6B6D3"/>
                </a:solidFill>
              </a:rPr>
              <a:t>0.65 – 0.84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2542032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B6D3"/>
                </a:solidFill>
              </a:rPr>
              <a:t>GOOD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2514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Data available from APIs but regulatory threshold is a judgment call (no explicit numeric threshold)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127248"/>
            <a:ext cx="11064240" cy="621792"/>
          </a:xfrm>
          <a:prstGeom prst="rect">
            <a:avLst/>
          </a:prstGeom>
          <a:solidFill>
            <a:srgbClr val="2D3748"/>
          </a:solidFill>
          <a:ln w="6350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320040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AB308"/>
                </a:solidFill>
              </a:rPr>
              <a:t>0.45 – 0.64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20240" y="320040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AB308"/>
                </a:solidFill>
              </a:rPr>
              <a:t>MODERATE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3172968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Only partial data (some APIs errored / returned empty) or regulation is tangentially related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785616"/>
            <a:ext cx="11064240" cy="621792"/>
          </a:xfrm>
          <a:prstGeom prst="rect">
            <a:avLst/>
          </a:prstGeom>
          <a:solidFill>
            <a:srgbClr val="2D3748"/>
          </a:solidFill>
          <a:ln w="6350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3858768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97316"/>
                </a:solidFill>
              </a:rPr>
              <a:t>0.25 – 0.44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3858768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97316"/>
                </a:solidFill>
              </a:rPr>
              <a:t>LOW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3831336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No direct data — determination relies on general domain knowledge about this project type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443984"/>
            <a:ext cx="11064240" cy="621792"/>
          </a:xfrm>
          <a:prstGeom prst="rect">
            <a:avLst/>
          </a:prstGeom>
          <a:solidFill>
            <a:srgbClr val="2D3748"/>
          </a:solidFill>
          <a:ln w="6350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4517136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F4444"/>
                </a:solidFill>
              </a:rPr>
              <a:t>0.00 – 0.24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20240" y="4517136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</a:rPr>
              <a:t>VERY LOW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4489704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Pure extrapolation — no supporting data or regulatory context available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6217920"/>
            <a:ext cx="11064240" cy="411480"/>
          </a:xfrm>
          <a:prstGeom prst="rect">
            <a:avLst/>
          </a:prstGeom>
          <a:solidFill>
            <a:srgbClr val="3B1A1A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6245352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F4444"/>
                </a:solidFill>
              </a:rPr>
              <a:t>⚑  needs_review = True  when  confidence &lt; 0.60  — cell is flagged in the UI for human expert review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8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97316"/>
                </a:solidFill>
              </a:rPr>
              <a:t>EIS Evaluation 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14400"/>
            <a:ext cx="11064240" cy="18288"/>
          </a:xfrm>
          <a:prstGeom prst="rect">
            <a:avLst/>
          </a:prstGeom>
          <a:solidFill>
            <a:srgbClr val="3D4A5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5E7EB"/>
                </a:solidFill>
              </a:rPr>
              <a:t>How do we know the agent is correct? Upload a real EIS document and score the pipeline output against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08760"/>
            <a:ext cx="2103120" cy="3840480"/>
          </a:xfrm>
          <a:prstGeom prst="rect">
            <a:avLst/>
          </a:prstGeom>
          <a:solidFill>
            <a:srgbClr val="2D3748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508760"/>
            <a:ext cx="2103120" cy="384048"/>
          </a:xfrm>
          <a:prstGeom prst="rect">
            <a:avLst/>
          </a:prstGeom>
          <a:solidFill>
            <a:srgbClr val="3B82F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1563624"/>
            <a:ext cx="195681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STEP 1: UPLOAD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965960"/>
            <a:ext cx="1883664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User uploads real EIS PDF linked to a project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61488" y="1508760"/>
            <a:ext cx="2103120" cy="3840480"/>
          </a:xfrm>
          <a:prstGeom prst="rect">
            <a:avLst/>
          </a:prstGeom>
          <a:solidFill>
            <a:srgbClr val="2D3748"/>
          </a:solidFill>
          <a:ln w="19050">
            <a:solidFill>
              <a:srgbClr val="06B6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61488" y="1508760"/>
            <a:ext cx="2103120" cy="384048"/>
          </a:xfrm>
          <a:prstGeom prst="rect">
            <a:avLst/>
          </a:prstGeom>
          <a:solidFill>
            <a:srgbClr val="06B6D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34640" y="1563624"/>
            <a:ext cx="195681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STEP 2: PARSE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71216" y="1965960"/>
            <a:ext cx="1883664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PDF parsed into sections, chunked, embedded into pgvector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65776" y="1508760"/>
            <a:ext cx="2103120" cy="3840480"/>
          </a:xfrm>
          <a:prstGeom prst="rect">
            <a:avLst/>
          </a:prstGeom>
          <a:solidFill>
            <a:srgbClr val="2D3748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65776" y="1508760"/>
            <a:ext cx="2103120" cy="384048"/>
          </a:xfrm>
          <a:prstGeom prst="rect">
            <a:avLst/>
          </a:prstGeom>
          <a:solidFill>
            <a:srgbClr val="22C55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38928" y="1563624"/>
            <a:ext cx="195681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STEP 3: EXTRACT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75504" y="1965960"/>
            <a:ext cx="1883664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LLM reads EIS chunks → extracts ground truth categories
(significance + evidence). Cached — runs once per document.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70064" y="1508760"/>
            <a:ext cx="2103120" cy="3840480"/>
          </a:xfrm>
          <a:prstGeom prst="rect">
            <a:avLst/>
          </a:prstGeom>
          <a:solidFill>
            <a:srgbClr val="2D3748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70064" y="1508760"/>
            <a:ext cx="2103120" cy="384048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43216" y="1563624"/>
            <a:ext cx="195681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STEP 4: SCORE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79792" y="1965960"/>
            <a:ext cx="1883664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Agent outputs compared to ground truth.
3 metrics computed and stored in evaluation_scores.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74352" y="1508760"/>
            <a:ext cx="2103120" cy="3840480"/>
          </a:xfrm>
          <a:prstGeom prst="rect">
            <a:avLst/>
          </a:prstGeom>
          <a:solidFill>
            <a:srgbClr val="2D3748"/>
          </a:solidFill>
          <a:ln w="1905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674352" y="1508760"/>
            <a:ext cx="2103120" cy="384048"/>
          </a:xfrm>
          <a:prstGeom prst="rect">
            <a:avLst/>
          </a:prstGeom>
          <a:solidFill>
            <a:srgbClr val="EAB30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47504" y="1563624"/>
            <a:ext cx="195681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STEP 5: REVIEW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0" y="1965960"/>
            <a:ext cx="1883664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Per-category breakdown: TP/FP/FN labels, agent vs GT
significance, matched EIS category name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5486400"/>
            <a:ext cx="5303520" cy="1097280"/>
          </a:xfrm>
          <a:prstGeom prst="rect">
            <a:avLst/>
          </a:prstGeom>
          <a:solidFill>
            <a:srgbClr val="2D3748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57810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F97316"/>
                </a:solidFill>
              </a:rPr>
              <a:t>[ IMAGE PLACEHOLDER: EIS upload + status screenshot 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5486400"/>
            <a:ext cx="5577840" cy="1097280"/>
          </a:xfrm>
          <a:prstGeom prst="rect">
            <a:avLst/>
          </a:prstGeom>
          <a:solidFill>
            <a:srgbClr val="2D3748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578104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F97316"/>
                </a:solidFill>
              </a:rPr>
              <a:t>[ IMAGE PLACEHOLDER: Evaluation scores panel screenshot 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8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97316"/>
                </a:solidFill>
              </a:rPr>
              <a:t>EIS Evaluation 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14400"/>
            <a:ext cx="11064240" cy="18288"/>
          </a:xfrm>
          <a:prstGeom prst="rect">
            <a:avLst/>
          </a:prstGeom>
          <a:solidFill>
            <a:srgbClr val="3D4A5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5E7EB"/>
                </a:solidFill>
              </a:rPr>
              <a:t>How do we know the agent is correct? Upload a real EIS document and score the pipeline output against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08760"/>
            <a:ext cx="2103120" cy="3840480"/>
          </a:xfrm>
          <a:prstGeom prst="rect">
            <a:avLst/>
          </a:prstGeom>
          <a:solidFill>
            <a:srgbClr val="2D3748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508760"/>
            <a:ext cx="2103120" cy="384048"/>
          </a:xfrm>
          <a:prstGeom prst="rect">
            <a:avLst/>
          </a:prstGeom>
          <a:solidFill>
            <a:srgbClr val="3B82F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1563624"/>
            <a:ext cx="195681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STEP 1: UPLOAD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965960"/>
            <a:ext cx="1883664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User uploads real EIS PDF linked to a project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61488" y="1508760"/>
            <a:ext cx="2103120" cy="3840480"/>
          </a:xfrm>
          <a:prstGeom prst="rect">
            <a:avLst/>
          </a:prstGeom>
          <a:solidFill>
            <a:srgbClr val="2D3748"/>
          </a:solidFill>
          <a:ln w="19050">
            <a:solidFill>
              <a:srgbClr val="06B6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61488" y="1508760"/>
            <a:ext cx="2103120" cy="384048"/>
          </a:xfrm>
          <a:prstGeom prst="rect">
            <a:avLst/>
          </a:prstGeom>
          <a:solidFill>
            <a:srgbClr val="06B6D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34640" y="1563624"/>
            <a:ext cx="195681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STEP 2: PARSE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71216" y="1965960"/>
            <a:ext cx="1883664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PDF parsed into sections, chunked, embedded into pgvector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65776" y="1508760"/>
            <a:ext cx="2103120" cy="3840480"/>
          </a:xfrm>
          <a:prstGeom prst="rect">
            <a:avLst/>
          </a:prstGeom>
          <a:solidFill>
            <a:srgbClr val="2D3748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65776" y="1508760"/>
            <a:ext cx="2103120" cy="384048"/>
          </a:xfrm>
          <a:prstGeom prst="rect">
            <a:avLst/>
          </a:prstGeom>
          <a:solidFill>
            <a:srgbClr val="22C55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38928" y="1563624"/>
            <a:ext cx="195681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STEP 3: EXTRACT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75504" y="1965960"/>
            <a:ext cx="1883664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LLM reads EIS chunks → extracts ground truth categories
(significance + evidence). Cached — runs once per document.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70064" y="1508760"/>
            <a:ext cx="2103120" cy="3840480"/>
          </a:xfrm>
          <a:prstGeom prst="rect">
            <a:avLst/>
          </a:prstGeom>
          <a:solidFill>
            <a:srgbClr val="2D3748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70064" y="1508760"/>
            <a:ext cx="2103120" cy="384048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43216" y="1563624"/>
            <a:ext cx="195681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STEP 4: SCORE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79792" y="1965960"/>
            <a:ext cx="1883664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Agent outputs compared to ground truth.
3 metrics computed and stored in evaluation_scores.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74352" y="1508760"/>
            <a:ext cx="2103120" cy="3840480"/>
          </a:xfrm>
          <a:prstGeom prst="rect">
            <a:avLst/>
          </a:prstGeom>
          <a:solidFill>
            <a:srgbClr val="2D3748"/>
          </a:solidFill>
          <a:ln w="1905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674352" y="1508760"/>
            <a:ext cx="2103120" cy="384048"/>
          </a:xfrm>
          <a:prstGeom prst="rect">
            <a:avLst/>
          </a:prstGeom>
          <a:solidFill>
            <a:srgbClr val="EAB30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47504" y="1563624"/>
            <a:ext cx="195681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STEP 5: REVIEW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0" y="1965960"/>
            <a:ext cx="1883664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Per-category breakdown: TP/FP/FN labels, agent vs GT
significance, matched EIS category name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5486400"/>
            <a:ext cx="5303520" cy="1097280"/>
          </a:xfrm>
          <a:prstGeom prst="rect">
            <a:avLst/>
          </a:prstGeom>
          <a:solidFill>
            <a:srgbClr val="2D3748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57810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F97316"/>
                </a:solidFill>
              </a:rPr>
              <a:t>[ IMAGE PLACEHOLDER: EIS upload + status screenshot 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5486400"/>
            <a:ext cx="5577840" cy="1097280"/>
          </a:xfrm>
          <a:prstGeom prst="rect">
            <a:avLst/>
          </a:prstGeom>
          <a:solidFill>
            <a:srgbClr val="2D3748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578104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F97316"/>
                </a:solidFill>
              </a:rPr>
              <a:t>[ IMAGE PLACEHOLDER: Evaluation scores panel screenshot 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8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97316"/>
                </a:solidFill>
              </a:rPr>
              <a:t>Evaluation Metrics — How Scores Are Calculated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14400"/>
            <a:ext cx="11064240" cy="18288"/>
          </a:xfrm>
          <a:prstGeom prst="rect">
            <a:avLst/>
          </a:prstGeom>
          <a:solidFill>
            <a:srgbClr val="3D4A5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005840"/>
            <a:ext cx="3566160" cy="5029200"/>
          </a:xfrm>
          <a:prstGeom prst="rect">
            <a:avLst/>
          </a:prstGeom>
          <a:solidFill>
            <a:srgbClr val="2D3748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005840"/>
            <a:ext cx="3566160" cy="457200"/>
          </a:xfrm>
          <a:prstGeom prst="rect">
            <a:avLst/>
          </a:prstGeom>
          <a:solidFill>
            <a:srgbClr val="3B82F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06984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CATEGORY F1   ×0.40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536192"/>
            <a:ext cx="32918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8 agent-designed categories: wetlands · air_quality · noise · traffic
environmental_justice · endangered_species · floodplain · prime_farmland
TP: agent flagged AND EIS confirms impact
FP: agent flagged BUT EIS says no impact
FN: EIS has impact BUT agent did not flag it
Precision = TP/(TP+FP)   Recall = TP/(TP+FN)
F1 = 2·P·R / (P+R)
EIS categories outside the 8 agent-designed ones are NOT counted against F1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15968" y="1005840"/>
            <a:ext cx="3566160" cy="5029200"/>
          </a:xfrm>
          <a:prstGeom prst="rect">
            <a:avLst/>
          </a:prstGeom>
          <a:solidFill>
            <a:srgbClr val="2D3748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15968" y="1005840"/>
            <a:ext cx="3566160" cy="457200"/>
          </a:xfrm>
          <a:prstGeom prst="rect">
            <a:avLst/>
          </a:prstGeom>
          <a:solidFill>
            <a:srgbClr val="22C55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07408" y="106984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SIGNIFICANCE ACCURACY   ×0.40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3128" y="1536192"/>
            <a:ext cx="32918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For each matched category, compare agent significance
to ground truth on an ordinal scale:
significant=3 · moderate=2 · minimal=1 · none=0
Exact match → 1.0 (full credit)
Off by 1 level → 0.5 (partial credit)
Off by 2+ levels → 0.0
Score averaged across all matched categories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83296" y="1005840"/>
            <a:ext cx="3566160" cy="5029200"/>
          </a:xfrm>
          <a:prstGeom prst="rect">
            <a:avLst/>
          </a:prstGeom>
          <a:solidFill>
            <a:srgbClr val="2D3748"/>
          </a:solidFill>
          <a:ln w="2540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83296" y="1005840"/>
            <a:ext cx="3566160" cy="457200"/>
          </a:xfrm>
          <a:prstGeom prst="rect">
            <a:avLst/>
          </a:prstGeom>
          <a:solidFill>
            <a:srgbClr val="EAB30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74736" y="106984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SEMANTIC COVERAGE   ×0.20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0456" y="1536192"/>
            <a:ext cx="32918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Up to 10 agent reasoning snippets embedded
and compared against stored EIS chunks
using cosine similarity
Average max-similarity measures how well
the agent's reasoning aligns with the
actual EIS document text
No LLM used — pure vector math on
existing embeddings (fast, cheap)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26364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97316"/>
                </a:solidFill>
              </a:rPr>
              <a:t>OVERALL SCORE  =  (Category F1 × 0.40)  +  (Significance Accuracy × 0.40)  +  (Semantic Coverage × 0.20)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8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97316"/>
                </a:solidFill>
              </a:rPr>
              <a:t>Evaluation Risks &amp; Shortcomings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14400"/>
            <a:ext cx="11064240" cy="18288"/>
          </a:xfrm>
          <a:prstGeom prst="rect">
            <a:avLst/>
          </a:prstGeom>
          <a:solidFill>
            <a:srgbClr val="3D4A5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5E7EB"/>
                </a:solidFill>
              </a:rPr>
              <a:t>Our current metrics (F1, Significance Accuracy, Semantic Coverage) are a starting point — not a complete picture of agent quality.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63040"/>
            <a:ext cx="5303520" cy="365760"/>
          </a:xfrm>
          <a:prstGeom prst="rect">
            <a:avLst/>
          </a:prstGeom>
          <a:solidFill>
            <a:srgbClr val="2D374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90472"/>
            <a:ext cx="5120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</a:rPr>
              <a:t>CURRENT SHORTCOMINGS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202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 b="1">
                <a:solidFill>
                  <a:srgbClr val="FFFFFF"/>
                </a:solidFill>
              </a:rPr>
              <a:t>▸ Ground truth is LLM-extracted — not human-annotated</a:t>
            </a:r>
          </a:p>
          <a:p>
            <a:pPr lvl="1">
              <a:spcBef>
                <a:spcPts val="100"/>
              </a:spcBef>
            </a:pPr>
            <a:r>
              <a:rPr sz="1100" b="0">
                <a:solidFill>
                  <a:srgbClr val="E5E7EB"/>
                </a:solidFill>
              </a:rPr>
              <a:t>  · LLM misreads the EIS → corrupted GT → misleadingly good scores</a:t>
            </a:r>
          </a:p>
          <a:p>
            <a:pPr>
              <a:spcBef>
                <a:spcPts val="300"/>
              </a:spcBef>
            </a:pPr>
            <a:r>
              <a:rPr sz="1300" b="1">
                <a:solidFill>
                  <a:srgbClr val="FFFFFF"/>
                </a:solidFill>
              </a:rPr>
              <a:t>▸ Only 8 hardcoded categories are evaluated</a:t>
            </a:r>
          </a:p>
          <a:p>
            <a:pPr lvl="1">
              <a:spcBef>
                <a:spcPts val="100"/>
              </a:spcBef>
            </a:pPr>
            <a:r>
              <a:rPr sz="1100" b="0">
                <a:solidFill>
                  <a:srgbClr val="E5E7EB"/>
                </a:solidFill>
              </a:rPr>
              <a:t>  · Project-specific impacts (e.g. cultural resources, noise) are invisible to F1</a:t>
            </a:r>
          </a:p>
          <a:p>
            <a:pPr>
              <a:spcBef>
                <a:spcPts val="300"/>
              </a:spcBef>
            </a:pPr>
            <a:r>
              <a:rPr sz="1300" b="1">
                <a:solidFill>
                  <a:srgbClr val="FFFFFF"/>
                </a:solidFill>
              </a:rPr>
              <a:t>▸ F1 is binary — partial detection gets no credit</a:t>
            </a:r>
          </a:p>
          <a:p>
            <a:pPr lvl="1">
              <a:spcBef>
                <a:spcPts val="100"/>
              </a:spcBef>
            </a:pPr>
            <a:r>
              <a:rPr sz="1100" b="0">
                <a:solidFill>
                  <a:srgbClr val="E5E7EB"/>
                </a:solidFill>
              </a:rPr>
              <a:t>  · Agent may identify the right concern under a different label (FP + FN)</a:t>
            </a:r>
          </a:p>
          <a:p>
            <a:pPr>
              <a:spcBef>
                <a:spcPts val="300"/>
              </a:spcBef>
            </a:pPr>
            <a:r>
              <a:rPr sz="1300" b="1">
                <a:solidFill>
                  <a:srgbClr val="FFFFFF"/>
                </a:solidFill>
              </a:rPr>
              <a:t>▸ Significance accuracy uses a coarse ordinal scale</a:t>
            </a:r>
          </a:p>
          <a:p>
            <a:pPr lvl="1">
              <a:spcBef>
                <a:spcPts val="100"/>
              </a:spcBef>
            </a:pPr>
            <a:r>
              <a:rPr sz="1100" b="0">
                <a:solidFill>
                  <a:srgbClr val="E5E7EB"/>
                </a:solidFill>
              </a:rPr>
              <a:t>  · 'Significant' in EIS context is project- and jurisdiction-specific</a:t>
            </a:r>
          </a:p>
          <a:p>
            <a:pPr>
              <a:spcBef>
                <a:spcPts val="300"/>
              </a:spcBef>
            </a:pPr>
            <a:r>
              <a:rPr sz="1300" b="1">
                <a:solidFill>
                  <a:srgbClr val="FFFFFF"/>
                </a:solidFill>
              </a:rPr>
              <a:t>▸ Semantic coverage ≠ factual correctness</a:t>
            </a:r>
          </a:p>
          <a:p>
            <a:pPr lvl="1">
              <a:spcBef>
                <a:spcPts val="100"/>
              </a:spcBef>
            </a:pPr>
            <a:r>
              <a:rPr sz="1100" b="0">
                <a:solidFill>
                  <a:srgbClr val="E5E7EB"/>
                </a:solidFill>
              </a:rPr>
              <a:t>  · High cosine similarity can reflect style match, not accurate impact reasoning</a:t>
            </a:r>
          </a:p>
          <a:p>
            <a:pPr>
              <a:spcBef>
                <a:spcPts val="300"/>
              </a:spcBef>
            </a:pPr>
            <a:r>
              <a:rPr sz="1300" b="1">
                <a:solidFill>
                  <a:srgbClr val="FFFFFF"/>
                </a:solidFill>
              </a:rPr>
              <a:t>▸ Non-determinism: same run may score differently across LLM calls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463040"/>
            <a:ext cx="5303520" cy="365760"/>
          </a:xfrm>
          <a:prstGeom prst="rect">
            <a:avLst/>
          </a:prstGeom>
          <a:solidFill>
            <a:srgbClr val="2D374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490472"/>
            <a:ext cx="5120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2C55E"/>
                </a:solidFill>
              </a:rPr>
              <a:t>WHERE TO IMPROVE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9202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 b="1">
                <a:solidFill>
                  <a:srgbClr val="FFFFFF"/>
                </a:solidFill>
              </a:rPr>
              <a:t>▸ Human-in-the-loop ground truth annotation</a:t>
            </a:r>
          </a:p>
          <a:p>
            <a:pPr lvl="1">
              <a:spcBef>
                <a:spcPts val="100"/>
              </a:spcBef>
            </a:pPr>
            <a:r>
              <a:rPr sz="1100" b="0">
                <a:solidFill>
                  <a:srgbClr val="E5E7EB"/>
                </a:solidFill>
              </a:rPr>
              <a:t>  · Domain experts review LLM extraction → verified GT corpus</a:t>
            </a:r>
          </a:p>
          <a:p>
            <a:pPr>
              <a:spcBef>
                <a:spcPts val="300"/>
              </a:spcBef>
            </a:pPr>
            <a:r>
              <a:rPr sz="1300" b="1">
                <a:solidFill>
                  <a:srgbClr val="FFFFFF"/>
                </a:solidFill>
              </a:rPr>
              <a:t>▸ Expand category set per project type</a:t>
            </a:r>
          </a:p>
          <a:p>
            <a:pPr lvl="1">
              <a:spcBef>
                <a:spcPts val="100"/>
              </a:spcBef>
            </a:pPr>
            <a:r>
              <a:rPr sz="1100" b="0">
                <a:solidFill>
                  <a:srgbClr val="E5E7EB"/>
                </a:solidFill>
              </a:rPr>
              <a:t>  · Move from 8 fixed categories to dynamic, project-driven taxonomy</a:t>
            </a:r>
          </a:p>
          <a:p>
            <a:pPr>
              <a:spcBef>
                <a:spcPts val="300"/>
              </a:spcBef>
            </a:pPr>
            <a:r>
              <a:rPr sz="1300" b="1">
                <a:solidFill>
                  <a:srgbClr val="FFFFFF"/>
                </a:solidFill>
              </a:rPr>
              <a:t>▸ LLM-as-Judge for reasoning quality</a:t>
            </a:r>
          </a:p>
          <a:p>
            <a:pPr lvl="1">
              <a:spcBef>
                <a:spcPts val="100"/>
              </a:spcBef>
            </a:pPr>
            <a:r>
              <a:rPr sz="1100" b="0">
                <a:solidFill>
                  <a:srgbClr val="E5E7EB"/>
                </a:solidFill>
              </a:rPr>
              <a:t>  · Separate evaluator LLM scores reasoning chains, not just category hits</a:t>
            </a:r>
          </a:p>
          <a:p>
            <a:pPr>
              <a:spcBef>
                <a:spcPts val="300"/>
              </a:spcBef>
            </a:pPr>
            <a:r>
              <a:rPr sz="1300" b="1">
                <a:solidFill>
                  <a:srgbClr val="FFFFFF"/>
                </a:solidFill>
              </a:rPr>
              <a:t>▸ Multi-document ensembling</a:t>
            </a:r>
          </a:p>
          <a:p>
            <a:pPr lvl="1">
              <a:spcBef>
                <a:spcPts val="100"/>
              </a:spcBef>
            </a:pPr>
            <a:r>
              <a:rPr sz="1100" b="0">
                <a:solidFill>
                  <a:srgbClr val="E5E7EB"/>
                </a:solidFill>
              </a:rPr>
              <a:t>  · Average GT across multiple EIS docs for the same project type</a:t>
            </a:r>
          </a:p>
          <a:p>
            <a:pPr>
              <a:spcBef>
                <a:spcPts val="300"/>
              </a:spcBef>
            </a:pPr>
            <a:r>
              <a:rPr sz="1300" b="1">
                <a:solidFill>
                  <a:srgbClr val="FFFFFF"/>
                </a:solidFill>
              </a:rPr>
              <a:t>▸ Confidence calibration curves</a:t>
            </a:r>
          </a:p>
          <a:p>
            <a:pPr lvl="1">
              <a:spcBef>
                <a:spcPts val="100"/>
              </a:spcBef>
            </a:pPr>
            <a:r>
              <a:rPr sz="1100" b="0">
                <a:solidFill>
                  <a:srgbClr val="E5E7EB"/>
                </a:solidFill>
              </a:rPr>
              <a:t>  · Track whether high-confidence cells are actually more accurate over time</a:t>
            </a:r>
          </a:p>
          <a:p>
            <a:pPr>
              <a:spcBef>
                <a:spcPts val="300"/>
              </a:spcBef>
            </a:pPr>
            <a:r>
              <a:rPr sz="1300" b="1">
                <a:solidFill>
                  <a:srgbClr val="FFFFFF"/>
                </a:solidFill>
              </a:rPr>
              <a:t>▸ Section-level citation verification</a:t>
            </a:r>
          </a:p>
          <a:p>
            <a:pPr lvl="1">
              <a:spcBef>
                <a:spcPts val="100"/>
              </a:spcBef>
            </a:pPr>
            <a:r>
              <a:rPr sz="1100" b="0">
                <a:solidFill>
                  <a:srgbClr val="E5E7EB"/>
                </a:solidFill>
              </a:rPr>
              <a:t>  · Verify that cited regulations actually contain the claimed thresholds</a:t>
            </a:r>
          </a:p>
          <a:p>
            <a:pPr>
              <a:spcBef>
                <a:spcPts val="300"/>
              </a:spcBef>
            </a:pPr>
            <a:r>
              <a:rPr sz="1300" b="1">
                <a:solidFill>
                  <a:srgbClr val="FFFFFF"/>
                </a:solidFill>
              </a:rPr>
              <a:t>▸ Run-level repeatability score</a:t>
            </a:r>
          </a:p>
          <a:p>
            <a:pPr lvl="1">
              <a:spcBef>
                <a:spcPts val="100"/>
              </a:spcBef>
            </a:pPr>
            <a:r>
              <a:rPr sz="1100" b="0">
                <a:solidFill>
                  <a:srgbClr val="E5E7EB"/>
                </a:solidFill>
              </a:rPr>
              <a:t>  · Multi-run variance tracking to quantify LLM non-determinism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8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97316"/>
                </a:solidFill>
              </a:rPr>
              <a:t>Results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14400"/>
            <a:ext cx="11064240" cy="18288"/>
          </a:xfrm>
          <a:prstGeom prst="rect">
            <a:avLst/>
          </a:prstGeom>
          <a:solidFill>
            <a:srgbClr val="3D4A5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005840"/>
            <a:ext cx="7132320" cy="2560320"/>
          </a:xfrm>
          <a:prstGeom prst="rect">
            <a:avLst/>
          </a:prstGeom>
          <a:solidFill>
            <a:srgbClr val="2D3748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032000"/>
            <a:ext cx="6949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F97316"/>
                </a:solidFill>
              </a:rPr>
              <a:t>[ IMAGE PLACEHOLDER: Full pipeline run — Brain Scanner log + agent status ]</a:t>
            </a:r>
          </a:p>
        </p:txBody>
      </p:sp>
      <p:sp>
        <p:nvSpPr>
          <p:cNvPr id="8" name="Rectangle 7"/>
          <p:cNvSpPr/>
          <p:nvPr/>
        </p:nvSpPr>
        <p:spPr>
          <a:xfrm>
            <a:off x="7863840" y="1005840"/>
            <a:ext cx="4023360" cy="2560320"/>
          </a:xfrm>
          <a:prstGeom prst="rect">
            <a:avLst/>
          </a:prstGeom>
          <a:solidFill>
            <a:srgbClr val="2D3748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0" y="203200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F97316"/>
                </a:solidFill>
              </a:rPr>
              <a:t>[ IMAGE PLACEHOLDER: Impact matrix output (color-coded by significance) ]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749039"/>
            <a:ext cx="5303520" cy="2834640"/>
          </a:xfrm>
          <a:prstGeom prst="rect">
            <a:avLst/>
          </a:prstGeom>
          <a:solidFill>
            <a:srgbClr val="2D3748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912359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F97316"/>
                </a:solidFill>
              </a:rPr>
              <a:t>[ IMAGE PLACEHOLDER: Evaluation scores panel (Overall %, F1, Precision, Recall bars) 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0" y="3749039"/>
            <a:ext cx="5852160" cy="2834640"/>
          </a:xfrm>
          <a:prstGeom prst="rect">
            <a:avLst/>
          </a:prstGeom>
          <a:solidFill>
            <a:srgbClr val="2D3748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912359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F97316"/>
                </a:solidFill>
              </a:rPr>
              <a:t>[ IMAGE PLACEHOLDER: Per-category breakdown table (TP/FP/FN, agent sig vs GT sig) ]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8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97316"/>
                </a:solidFill>
              </a:rPr>
              <a:t>Technical Stack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14400"/>
            <a:ext cx="11064240" cy="18288"/>
          </a:xfrm>
          <a:prstGeom prst="rect">
            <a:avLst/>
          </a:prstGeom>
          <a:solidFill>
            <a:srgbClr val="3D4A5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005840"/>
            <a:ext cx="5303520" cy="365760"/>
          </a:xfrm>
          <a:prstGeom prst="rect">
            <a:avLst/>
          </a:prstGeom>
          <a:solidFill>
            <a:srgbClr val="2D374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024128"/>
            <a:ext cx="5120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97316"/>
                </a:solidFill>
              </a:rPr>
              <a:t>Backend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6304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500" b="1">
                <a:solidFill>
                  <a:srgbClr val="FFFFFF"/>
                </a:solidFill>
              </a:rPr>
              <a:t>▸ FastAPI + Uvicorn (Python)</a:t>
            </a:r>
          </a:p>
          <a:p>
            <a:pPr lvl="1">
              <a:spcBef>
                <a:spcPts val="100"/>
              </a:spcBef>
            </a:pPr>
            <a:r>
              <a:rPr sz="1300" b="0">
                <a:solidFill>
                  <a:srgbClr val="E5E7EB"/>
                </a:solidFill>
              </a:rPr>
              <a:t>  · ASGI with streaming response support for SSE</a:t>
            </a:r>
          </a:p>
          <a:p>
            <a:pPr>
              <a:spcBef>
                <a:spcPts val="300"/>
              </a:spcBef>
            </a:pPr>
            <a:r>
              <a:rPr sz="1500" b="1">
                <a:solidFill>
                  <a:srgbClr val="FFFFFF"/>
                </a:solidFill>
              </a:rPr>
              <a:t>▸ LangGraph for agent orchestration</a:t>
            </a:r>
          </a:p>
          <a:p>
            <a:pPr lvl="1">
              <a:spcBef>
                <a:spcPts val="100"/>
              </a:spcBef>
            </a:pPr>
            <a:r>
              <a:rPr sz="1300" b="0">
                <a:solidFill>
                  <a:srgbClr val="E5E7EB"/>
                </a:solidFill>
              </a:rPr>
              <a:t>  · Directed graph with typed EIAPipelineState</a:t>
            </a:r>
          </a:p>
          <a:p>
            <a:pPr>
              <a:spcBef>
                <a:spcPts val="300"/>
              </a:spcBef>
            </a:pPr>
            <a:r>
              <a:rPr sz="1500" b="1">
                <a:solidFill>
                  <a:srgbClr val="FFFFFF"/>
                </a:solidFill>
              </a:rPr>
              <a:t>▸ psycopg2 — raw SQL, no ORM</a:t>
            </a:r>
          </a:p>
          <a:p>
            <a:pPr lvl="1">
              <a:spcBef>
                <a:spcPts val="100"/>
              </a:spcBef>
            </a:pPr>
            <a:r>
              <a:rPr sz="1300" b="0">
                <a:solidFill>
                  <a:srgbClr val="E5E7EB"/>
                </a:solidFill>
              </a:rPr>
              <a:t>  · Repository pattern for new DB access code</a:t>
            </a:r>
          </a:p>
          <a:p>
            <a:pPr>
              <a:spcBef>
                <a:spcPts val="300"/>
              </a:spcBef>
            </a:pPr>
            <a:r>
              <a:rPr sz="1500" b="1">
                <a:solidFill>
                  <a:srgbClr val="FFFFFF"/>
                </a:solidFill>
              </a:rPr>
              <a:t>▸ LlamaIndex + pgvector (HNSW) for RAG</a:t>
            </a:r>
          </a:p>
          <a:p>
            <a:pPr>
              <a:spcBef>
                <a:spcPts val="300"/>
              </a:spcBef>
            </a:pPr>
            <a:r>
              <a:rPr sz="1500" b="1">
                <a:solidFill>
                  <a:srgbClr val="FFFFFF"/>
                </a:solidFill>
              </a:rPr>
              <a:t>▸ OpenAI / Anthropic / Ollama — switchable via env vars</a:t>
            </a:r>
          </a:p>
          <a:p>
            <a:pPr lvl="1">
              <a:spcBef>
                <a:spcPts val="100"/>
              </a:spcBef>
            </a:pPr>
            <a:r>
              <a:rPr sz="1300" b="0">
                <a:solidFill>
                  <a:srgbClr val="E5E7EB"/>
                </a:solidFill>
              </a:rPr>
              <a:t>  · No code changes needed to swap providers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005840"/>
            <a:ext cx="5303520" cy="365760"/>
          </a:xfrm>
          <a:prstGeom prst="rect">
            <a:avLst/>
          </a:prstGeom>
          <a:solidFill>
            <a:srgbClr val="2D374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024128"/>
            <a:ext cx="5120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97316"/>
                </a:solidFill>
              </a:rPr>
              <a:t>Frontend + Infrastructure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46304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500" b="1">
                <a:solidFill>
                  <a:srgbClr val="FFFFFF"/>
                </a:solidFill>
              </a:rPr>
              <a:t>▸ React 18 + Vite (widescreen, inline CSS)</a:t>
            </a:r>
          </a:p>
          <a:p>
            <a:pPr lvl="1">
              <a:spcBef>
                <a:spcPts val="100"/>
              </a:spcBef>
            </a:pPr>
            <a:r>
              <a:rPr sz="1300" b="0">
                <a:solidFill>
                  <a:srgbClr val="E5E7EB"/>
                </a:solidFill>
              </a:rPr>
              <a:t>  · Real-time SSE streaming via EventSource</a:t>
            </a:r>
          </a:p>
          <a:p>
            <a:pPr lvl="1">
              <a:spcBef>
                <a:spcPts val="100"/>
              </a:spcBef>
            </a:pPr>
            <a:r>
              <a:rPr sz="1300" b="0">
                <a:solidFill>
                  <a:srgbClr val="E5E7EB"/>
                </a:solidFill>
              </a:rPr>
              <a:t>  · Agent status dots, cost tracking, Brain Scanner log</a:t>
            </a:r>
          </a:p>
          <a:p>
            <a:pPr>
              <a:spcBef>
                <a:spcPts val="300"/>
              </a:spcBef>
            </a:pPr>
            <a:r>
              <a:rPr sz="1500" b="1">
                <a:solidFill>
                  <a:srgbClr val="FFFFFF"/>
                </a:solidFill>
              </a:rPr>
              <a:t>▸ PostgreSQL + pgvector on Render</a:t>
            </a:r>
          </a:p>
          <a:p>
            <a:pPr lvl="1">
              <a:spcBef>
                <a:spcPts val="100"/>
              </a:spcBef>
            </a:pPr>
            <a:r>
              <a:rPr sz="1300" b="0">
                <a:solidFill>
                  <a:srgbClr val="E5E7EB"/>
                </a:solidFill>
              </a:rPr>
              <a:t>  · HNSW cosine index for sub-ms ANN search</a:t>
            </a:r>
          </a:p>
          <a:p>
            <a:pPr lvl="1">
              <a:spcBef>
                <a:spcPts val="100"/>
              </a:spcBef>
            </a:pPr>
            <a:r>
              <a:rPr sz="1300" b="0">
                <a:solidFill>
                  <a:srgbClr val="E5E7EB"/>
                </a:solidFill>
              </a:rPr>
              <a:t>  · pipeline_runs table: one saved run per project</a:t>
            </a:r>
          </a:p>
          <a:p>
            <a:pPr>
              <a:spcBef>
                <a:spcPts val="300"/>
              </a:spcBef>
            </a:pPr>
            <a:r>
              <a:rPr sz="1500" b="1">
                <a:solidFill>
                  <a:srgbClr val="FFFFFF"/>
                </a:solidFill>
              </a:rPr>
              <a:t>▸ SAVE RESULTS — explicit save with overwrite guard</a:t>
            </a:r>
          </a:p>
          <a:p>
            <a:pPr>
              <a:spcBef>
                <a:spcPts val="300"/>
              </a:spcBef>
            </a:pPr>
            <a:r>
              <a:rPr sz="1500" b="1">
                <a:solidFill>
                  <a:srgbClr val="FFFFFF"/>
                </a:solidFill>
              </a:rPr>
              <a:t>▸ EIS evaluation scoring auto-populates on load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8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97316"/>
                </a:solidFill>
              </a:rPr>
              <a:t>Conclusion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14400"/>
            <a:ext cx="11064240" cy="18288"/>
          </a:xfrm>
          <a:prstGeom prst="rect">
            <a:avLst/>
          </a:prstGeom>
          <a:solidFill>
            <a:srgbClr val="3D4A5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700" b="1">
                <a:solidFill>
                  <a:srgbClr val="F97316"/>
                </a:solidFill>
              </a:rPr>
              <a:t>▸ Automated NEPA screening from weeks to minutes</a:t>
            </a:r>
          </a:p>
          <a:p>
            <a:pPr lvl="1">
              <a:spcBef>
                <a:spcPts val="200"/>
              </a:spcBef>
            </a:pPr>
            <a:r>
              <a:rPr sz="1400" b="0">
                <a:solidFill>
                  <a:srgbClr val="E5E7EB"/>
                </a:solidFill>
              </a:rPr>
              <a:t>    · 5-agent pipeline covers data gathering, regulatory RAG, impact analysis, and report writing</a:t>
            </a:r>
          </a:p>
          <a:p>
            <a:pPr lvl="1">
              <a:spcBef>
                <a:spcPts val="200"/>
              </a:spcBef>
            </a:pPr>
            <a:r>
              <a:rPr sz="1400" b="0">
                <a:solidFill>
                  <a:srgbClr val="E5E7EB"/>
                </a:solidFill>
              </a:rPr>
              <a:t>    · Full traceability: every impact cell cites the regulation and data that drove it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▸ 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97316"/>
                </a:solidFill>
              </a:rPr>
              <a:t>▸ Confidence-aware — not a black box</a:t>
            </a:r>
          </a:p>
          <a:p>
            <a:pPr lvl="1">
              <a:spcBef>
                <a:spcPts val="200"/>
              </a:spcBef>
            </a:pPr>
            <a:r>
              <a:rPr sz="1400" b="0">
                <a:solidFill>
                  <a:srgbClr val="E5E7EB"/>
                </a:solidFill>
              </a:rPr>
              <a:t>    · 5-tier scoring model anchored to data quality and regulatory specificity</a:t>
            </a:r>
          </a:p>
          <a:p>
            <a:pPr lvl="1">
              <a:spcBef>
                <a:spcPts val="200"/>
              </a:spcBef>
            </a:pPr>
            <a:r>
              <a:rPr sz="1400" b="0">
                <a:solidFill>
                  <a:srgbClr val="E5E7EB"/>
                </a:solidFill>
              </a:rPr>
              <a:t>    · Cells below 0.6 confidence are flagged for human review automatically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▸ 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97316"/>
                </a:solidFill>
              </a:rPr>
              <a:t>▸ Quantitative evaluation against real EIS documents</a:t>
            </a:r>
          </a:p>
          <a:p>
            <a:pPr lvl="1">
              <a:spcBef>
                <a:spcPts val="200"/>
              </a:spcBef>
            </a:pPr>
            <a:r>
              <a:rPr sz="1400" b="0">
                <a:solidFill>
                  <a:srgbClr val="E5E7EB"/>
                </a:solidFill>
              </a:rPr>
              <a:t>    · Category F1, Significance Accuracy, Semantic Coverage scores</a:t>
            </a:r>
          </a:p>
          <a:p>
            <a:pPr lvl="1">
              <a:spcBef>
                <a:spcPts val="200"/>
              </a:spcBef>
            </a:pPr>
            <a:r>
              <a:rPr sz="1400" b="0">
                <a:solidFill>
                  <a:srgbClr val="E5E7EB"/>
                </a:solidFill>
              </a:rPr>
              <a:t>    · Ground truth extraction cached — re-scoring is fast and cheap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▸ 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▸ Future Work</a:t>
            </a:r>
          </a:p>
          <a:p>
            <a:pPr lvl="1">
              <a:spcBef>
                <a:spcPts val="200"/>
              </a:spcBef>
            </a:pPr>
            <a:r>
              <a:rPr sz="1400" b="0">
                <a:solidFill>
                  <a:srgbClr val="E5E7EB"/>
                </a:solidFill>
              </a:rPr>
              <a:t>    · Populate run_id on evaluation scores for run↔score traceability</a:t>
            </a:r>
          </a:p>
          <a:p>
            <a:pPr lvl="1">
              <a:spcBef>
                <a:spcPts val="200"/>
              </a:spcBef>
            </a:pPr>
            <a:r>
              <a:rPr sz="1400" b="0">
                <a:solidFill>
                  <a:srgbClr val="E5E7EB"/>
                </a:solidFill>
              </a:rPr>
              <a:t>    · Multi-project comparison dashboard</a:t>
            </a:r>
          </a:p>
          <a:p>
            <a:pPr lvl="1">
              <a:spcBef>
                <a:spcPts val="200"/>
              </a:spcBef>
            </a:pPr>
            <a:r>
              <a:rPr sz="1400" b="0">
                <a:solidFill>
                  <a:srgbClr val="E5E7EB"/>
                </a:solidFill>
              </a:rPr>
              <a:t>    · Automated report filing / agency submission integration</a:t>
            </a:r>
          </a:p>
          <a:p>
            <a:pPr lvl="1">
              <a:spcBef>
                <a:spcPts val="200"/>
              </a:spcBef>
            </a:pPr>
            <a:r>
              <a:rPr sz="1400" b="0">
                <a:solidFill>
                  <a:srgbClr val="E5E7EB"/>
                </a:solidFill>
              </a:rPr>
              <a:t>    · Expand to full EIS (beyond screening-level EA)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MU PPT Theme">
  <a:themeElements>
    <a:clrScheme name="Figma">
      <a:dk1>
        <a:srgbClr val="000000"/>
      </a:dk1>
      <a:lt1>
        <a:srgbClr val="FFFFFF"/>
      </a:lt1>
      <a:dk2>
        <a:srgbClr val="1F2833"/>
      </a:dk2>
      <a:lt2>
        <a:srgbClr val="E5E7EB"/>
      </a:lt2>
      <a:accent1>
        <a:srgbClr val="F97316"/>
      </a:accent1>
      <a:accent2>
        <a:srgbClr val="EF4444"/>
      </a:accent2>
      <a:accent3>
        <a:srgbClr val="EAB308"/>
      </a:accent3>
      <a:accent4>
        <a:srgbClr val="22C55E"/>
      </a:accent4>
      <a:accent5>
        <a:srgbClr val="06B6D3"/>
      </a:accent5>
      <a:accent6>
        <a:srgbClr val="D946EF"/>
      </a:accent6>
      <a:hlink>
        <a:srgbClr val="3B82F6"/>
      </a:hlink>
      <a:folHlink>
        <a:srgbClr val="A855F7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45 Helvetica Light" pitchFamily="-110" charset="0"/>
            <a:ea typeface="Geneva" pitchFamily="-110" charset="-128"/>
            <a:cs typeface="Geneva" pitchFamily="-110" charset="-128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45 Helvetica Light" pitchFamily="-110" charset="0"/>
            <a:ea typeface="Geneva" pitchFamily="-110" charset="-128"/>
            <a:cs typeface="Geneva" pitchFamily="-110" charset="-128"/>
          </a:defRPr>
        </a:defPPr>
      </a:lstStyle>
    </a:lnDef>
  </a:objectDefaults>
  <a:extraClrSchemeLst>
    <a:extraClrScheme>
      <a:clrScheme name="Blank Presentatio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713E39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BBAFAE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Presentation1" id="{62817F12-EA18-574E-90B7-E96DCC192F96}" vid="{D134E728-AEC4-1C41-A8F9-44315560EBB3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</TotalTime>
  <Words>237</Words>
  <Application>Microsoft Macintosh PowerPoint</Application>
  <PresentationFormat>On-screen Show (16:9)</PresentationFormat>
  <Paragraphs>45</Paragraphs>
  <Slides>8</Slides>
  <Notes>2</Notes>
  <HiddenSlides>1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8" baseType="lpstr">
      <vt:lpstr>ＭＳ Ｐゴシック</vt:lpstr>
      <vt:lpstr>.AppleSystemUIFont</vt:lpstr>
      <vt:lpstr>45 Helvetica Light</vt:lpstr>
      <vt:lpstr>Arial</vt:lpstr>
      <vt:lpstr>DM Sans 14pt</vt:lpstr>
      <vt:lpstr>Open Sans</vt:lpstr>
      <vt:lpstr>Open Sans Light</vt:lpstr>
      <vt:lpstr>Open Sans Regular</vt:lpstr>
      <vt:lpstr>Times</vt:lpstr>
      <vt:lpstr>CMU PPT Theme</vt:lpstr>
      <vt:lpstr>PowerPoint Presentation</vt:lpstr>
      <vt:lpstr>Background</vt:lpstr>
      <vt:lpstr>Problem Statement</vt:lpstr>
      <vt:lpstr>Methodology</vt:lpstr>
      <vt:lpstr>Results</vt:lpstr>
      <vt:lpstr>Discussion</vt:lpstr>
      <vt:lpstr>Conclusion</vt:lpstr>
      <vt:lpstr>Example Slide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Peter Pak</dc:creator>
  <cp:lastModifiedBy>Peter Pak</cp:lastModifiedBy>
  <cp:revision>1</cp:revision>
  <cp:lastPrinted>2016-12-06T18:52:42Z</cp:lastPrinted>
  <dcterms:created xsi:type="dcterms:W3CDTF">2026-04-03T15:47:07Z</dcterms:created>
  <dcterms:modified xsi:type="dcterms:W3CDTF">2026-04-03T15:58:01Z</dcterms:modified>
</cp:coreProperties>
</file>