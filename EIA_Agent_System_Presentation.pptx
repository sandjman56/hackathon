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810" r:id="rId1"/>
  </p:sldMasterIdLst>
  <p:notesMasterIdLst>
    <p:notesMasterId r:id="rId10"/>
  </p:notesMasterIdLst>
  <p:handoutMasterIdLst>
    <p:handoutMasterId r:id="rId11"/>
  </p:handoutMasterIdLst>
  <p:sldIdLst>
    <p:sldId id="256" r:id="rId9"/>
    <p:sldId id="257" r:id="rId8"/>
    <p:sldId id="258" r:id="rId7"/>
    <p:sldId id="259" r:id="rId6"/>
    <p:sldId id="260" r:id="rId5"/>
    <p:sldId id="261" r:id="rId4"/>
    <p:sldId id="262" r:id="rId3"/>
    <p:sldId id="263" r:id="rId2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</p:sldIdLst>
  <p:sldSz cx="12188952" cy="6858000" type="screen16x9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45 Helvetica Light" charset="0"/>
        <a:ea typeface="ＭＳ Ｐゴシック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B5D3"/>
    <a:srgbClr val="F15A24"/>
    <a:srgbClr val="FF0000"/>
    <a:srgbClr val="BB0027"/>
    <a:srgbClr val="BB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B69365-A651-43C9-9367-7D9EAD45D71C}" v="1" dt="2026-02-16T16:39:37.91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09" autoAdjust="0"/>
    <p:restoredTop sz="94658"/>
  </p:normalViewPr>
  <p:slideViewPr>
    <p:cSldViewPr snapToGrid="0">
      <p:cViewPr varScale="1">
        <p:scale>
          <a:sx n="132" d="100"/>
          <a:sy n="132" d="100"/>
        </p:scale>
        <p:origin x="160" y="62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8.xml"/><Relationship Id="rId3" Type="http://schemas.openxmlformats.org/officeDocument/2006/relationships/slide" Target="slides/slide7.xml"/><Relationship Id="rId4" Type="http://schemas.openxmlformats.org/officeDocument/2006/relationships/slide" Target="slides/slide6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5/10/relationships/revisionInfo" Target="revisionInfo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Open Sans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Open Sans" charset="0"/>
              </a:defRPr>
            </a:lvl1pPr>
          </a:lstStyle>
          <a:p>
            <a:pPr>
              <a:defRPr/>
            </a:pPr>
            <a:fld id="{59AAF3D2-EDFA-BA42-9460-032E57456FC5}" type="datetimeFigureOut">
              <a:rPr lang="en-US"/>
              <a:pPr>
                <a:defRPr/>
              </a:pPr>
              <a:t>4/3/26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Open Sans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Open Sans" charset="0"/>
              </a:defRPr>
            </a:lvl1pPr>
          </a:lstStyle>
          <a:p>
            <a:pPr>
              <a:defRPr/>
            </a:pPr>
            <a:fld id="{53E6B18D-BC97-A741-A494-5A40B396D86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baseline="0">
                <a:latin typeface="Open Sans" charset="0"/>
                <a:ea typeface="ＭＳ Ｐゴシック" charset="0"/>
                <a:cs typeface="Geneva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baseline="0">
                <a:latin typeface="Open Sans" charset="0"/>
                <a:ea typeface="ＭＳ Ｐゴシック" charset="0"/>
                <a:cs typeface="Geneva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baseline="0">
                <a:latin typeface="Open Sans" charset="0"/>
                <a:ea typeface="ＭＳ Ｐゴシック" charset="0"/>
                <a:cs typeface="Geneva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baseline="0">
                <a:latin typeface="Open Sans" charset="0"/>
              </a:defRPr>
            </a:lvl1pPr>
          </a:lstStyle>
          <a:p>
            <a:pPr>
              <a:defRPr/>
            </a:pPr>
            <a:fld id="{2B24F439-14CB-B64A-A38E-43868DBA8F9B}" type="slidenum">
              <a:rPr lang="en-US" altLang="x-none"/>
              <a:pPr>
                <a:defRPr/>
              </a:pPr>
              <a:t>‹#›</a:t>
            </a:fld>
            <a:endParaRPr lang="en-US" altLang="x-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Open Sans" charset="0"/>
        <a:ea typeface="ＭＳ Ｐゴシック" charset="0"/>
        <a:cs typeface="Geneva" pitchFamily="-110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Open Sans" charset="0"/>
        <a:ea typeface="Geneva" pitchFamily="-110" charset="-128"/>
        <a:cs typeface="Geneva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Open Sans" charset="0"/>
        <a:ea typeface="Geneva" pitchFamily="-110" charset="-128"/>
        <a:cs typeface="Geneva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Open Sans" charset="0"/>
        <a:ea typeface="Geneva" pitchFamily="-110" charset="-128"/>
        <a:cs typeface="Geneva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Open Sans" charset="0"/>
        <a:ea typeface="Geneva" pitchFamily="-110" charset="-128"/>
        <a:cs typeface="Geneva" charset="0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ChangeArrowheads="1"/>
          </p:cNvSpPr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rgbClr val="BB0027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9pPr>
          </a:lstStyle>
          <a:p>
            <a:pPr>
              <a:defRPr/>
            </a:pPr>
            <a:endParaRPr lang="x-none" altLang="x-none">
              <a:latin typeface="Open Sans Regular" charset="0"/>
            </a:endParaRPr>
          </a:p>
        </p:txBody>
      </p:sp>
      <p:pic>
        <p:nvPicPr>
          <p:cNvPr id="3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895350"/>
            <a:ext cx="342900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6" descr="_Plaid-Digital_FINAL-NEW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737" t="23988" r="4771" b="1990"/>
          <a:stretch>
            <a:fillRect/>
          </a:stretch>
        </p:blipFill>
        <p:spPr bwMode="auto">
          <a:xfrm>
            <a:off x="457200" y="0"/>
            <a:ext cx="790575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5"/>
          <p:cNvSpPr>
            <a:spLocks noChangeArrowheads="1"/>
          </p:cNvSpPr>
          <p:nvPr userDrawn="1"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rgbClr val="BB0027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45 Helvetica Light" charset="0"/>
                <a:ea typeface="ＭＳ Ｐゴシック" charset="-128"/>
              </a:defRPr>
            </a:lvl9pPr>
          </a:lstStyle>
          <a:p>
            <a:pPr>
              <a:defRPr/>
            </a:pPr>
            <a:endParaRPr lang="x-none" altLang="x-none">
              <a:latin typeface="Open Sans Regular" charset="0"/>
            </a:endParaRPr>
          </a:p>
        </p:txBody>
      </p:sp>
      <p:pic>
        <p:nvPicPr>
          <p:cNvPr id="6" name="Picture 1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895350"/>
            <a:ext cx="3429000" cy="306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12" descr="_Plaid-Digital_FINAL-NEW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737" t="23988" r="4771" b="1990"/>
          <a:stretch>
            <a:fillRect/>
          </a:stretch>
        </p:blipFill>
        <p:spPr bwMode="auto">
          <a:xfrm>
            <a:off x="457200" y="0"/>
            <a:ext cx="790575" cy="514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093143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DM Sans 14pt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FE22EB4-74F7-E4D1-DCCA-07234DC454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4933950"/>
            <a:ext cx="8001000" cy="209550"/>
          </a:xfrm>
        </p:spPr>
        <p:txBody>
          <a:bodyPr/>
          <a:lstStyle>
            <a:lvl1pPr>
              <a:defRPr sz="800">
                <a:latin typeface="DM Sans 14p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21613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DM Sans 14pt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457200" y="1200150"/>
            <a:ext cx="82296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  <a:lvl5pPr>
              <a:defRPr>
                <a:latin typeface="DM Sans 14pt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400EFD-6CE2-B612-D139-EDAAC66540F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0" y="4933950"/>
            <a:ext cx="8001000" cy="209550"/>
          </a:xfrm>
        </p:spPr>
        <p:txBody>
          <a:bodyPr/>
          <a:lstStyle>
            <a:lvl1pPr>
              <a:defRPr sz="800">
                <a:latin typeface="DM Sans 14p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28111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DM Sans 14pt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457200" y="1200150"/>
            <a:ext cx="39624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  <a:lvl5pPr>
              <a:defRPr>
                <a:latin typeface="DM Sans 14pt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1"/>
          </p:nvPr>
        </p:nvSpPr>
        <p:spPr>
          <a:xfrm>
            <a:off x="4727448" y="1212300"/>
            <a:ext cx="3959352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  <a:lvl5pPr>
              <a:defRPr>
                <a:latin typeface="DM Sans 14pt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C729217-CC38-A012-FDD7-9CCC9EC2C55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4933950"/>
            <a:ext cx="8001000" cy="209550"/>
          </a:xfrm>
        </p:spPr>
        <p:txBody>
          <a:bodyPr/>
          <a:lstStyle>
            <a:lvl1pPr>
              <a:defRPr sz="800">
                <a:latin typeface="DM Sans 14p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98285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DM Sans 14pt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457200" y="1200150"/>
            <a:ext cx="25908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  <a:lvl5pPr>
              <a:defRPr>
                <a:latin typeface="DM Sans 14pt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11"/>
          </p:nvPr>
        </p:nvSpPr>
        <p:spPr>
          <a:xfrm>
            <a:off x="3276600" y="1200150"/>
            <a:ext cx="25908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  <a:lvl5pPr>
              <a:defRPr>
                <a:latin typeface="DM Sans 14pt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2"/>
          </p:nvPr>
        </p:nvSpPr>
        <p:spPr>
          <a:xfrm>
            <a:off x="6096000" y="1200150"/>
            <a:ext cx="25908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  <a:lvl5pPr>
              <a:defRPr>
                <a:latin typeface="DM Sans 14pt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2AD9AD8-88AE-B053-63EE-556D81195E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4933950"/>
            <a:ext cx="8001000" cy="209550"/>
          </a:xfrm>
        </p:spPr>
        <p:txBody>
          <a:bodyPr/>
          <a:lstStyle>
            <a:lvl1pPr>
              <a:defRPr sz="800">
                <a:latin typeface="DM Sans 14p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671100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DM Sans 14pt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457200" y="1200150"/>
            <a:ext cx="19050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11"/>
          </p:nvPr>
        </p:nvSpPr>
        <p:spPr>
          <a:xfrm>
            <a:off x="2565400" y="1200150"/>
            <a:ext cx="19050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2"/>
          </p:nvPr>
        </p:nvSpPr>
        <p:spPr>
          <a:xfrm>
            <a:off x="4673600" y="1200150"/>
            <a:ext cx="19050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13"/>
          </p:nvPr>
        </p:nvSpPr>
        <p:spPr>
          <a:xfrm>
            <a:off x="6781800" y="1200150"/>
            <a:ext cx="1905000" cy="3429000"/>
          </a:xfrm>
        </p:spPr>
        <p:txBody>
          <a:bodyPr/>
          <a:lstStyle>
            <a:lvl1pPr>
              <a:defRPr>
                <a:latin typeface="DM Sans 14pt" pitchFamily="2" charset="77"/>
              </a:defRPr>
            </a:lvl1pPr>
            <a:lvl2pPr>
              <a:defRPr>
                <a:latin typeface="DM Sans 14pt" pitchFamily="2" charset="77"/>
              </a:defRPr>
            </a:lvl2pPr>
            <a:lvl3pPr>
              <a:defRPr>
                <a:latin typeface="DM Sans 14pt" pitchFamily="2" charset="77"/>
              </a:defRPr>
            </a:lvl3pPr>
            <a:lvl4pPr>
              <a:defRPr>
                <a:latin typeface="DM Sans 14pt" pitchFamily="2" charset="77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E889BB52-C188-E897-0163-57426A3289E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4933950"/>
            <a:ext cx="8001000" cy="209550"/>
          </a:xfrm>
        </p:spPr>
        <p:txBody>
          <a:bodyPr/>
          <a:lstStyle>
            <a:lvl1pPr>
              <a:defRPr sz="800">
                <a:latin typeface="DM Sans 14p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99064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963EF77A-37AD-9D78-BA5D-4A7736A855A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4933950"/>
            <a:ext cx="8001000" cy="209550"/>
          </a:xfrm>
        </p:spPr>
        <p:txBody>
          <a:bodyPr/>
          <a:lstStyle>
            <a:lvl1pPr>
              <a:defRPr sz="800">
                <a:latin typeface="DM Sans 14pt" pitchFamily="2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33381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509975"/>
            <a:ext cx="822960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x-none"/>
              <a:t>Click to edit Master title style</a:t>
            </a:r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200150"/>
            <a:ext cx="8229600" cy="3505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x-none"/>
              <a:t>Click to edit Master text styles</a:t>
            </a:r>
          </a:p>
          <a:p>
            <a:pPr lvl="1"/>
            <a:r>
              <a:rPr lang="en-US" altLang="x-none"/>
              <a:t>Second level</a:t>
            </a:r>
          </a:p>
          <a:p>
            <a:pPr lvl="2"/>
            <a:r>
              <a:rPr lang="en-US" altLang="x-none"/>
              <a:t>Third level</a:t>
            </a:r>
          </a:p>
          <a:p>
            <a:pPr lvl="3"/>
            <a:r>
              <a:rPr lang="en-US" altLang="x-none"/>
              <a:t>Fourth level</a:t>
            </a:r>
          </a:p>
          <a:p>
            <a:pPr lvl="4"/>
            <a:r>
              <a:rPr lang="en-US" altLang="x-none"/>
              <a:t>Fifth level</a:t>
            </a: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51D83416-00FF-7E42-B8E5-8A7EE0EDCA9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1073918" y="6400413"/>
            <a:ext cx="279883" cy="276999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DBF4EFE-C980-B844-B5ED-B8094C71D895}"/>
              </a:ext>
            </a:extLst>
          </p:cNvPr>
          <p:cNvSpPr txBox="1">
            <a:spLocks/>
          </p:cNvSpPr>
          <p:nvPr userDrawn="1"/>
        </p:nvSpPr>
        <p:spPr>
          <a:xfrm>
            <a:off x="11226318" y="6552813"/>
            <a:ext cx="279883" cy="276999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defPPr>
              <a:defRPr lang="en-US"/>
            </a:defPPr>
            <a:lvl1pPr algn="r" rtl="0" eaLnBrk="0" fontAlgn="base" hangingPunct="0">
              <a:spcBef>
                <a:spcPct val="0"/>
              </a:spcBef>
              <a:spcAft>
                <a:spcPct val="0"/>
              </a:spcAft>
              <a:defRPr sz="1200" kern="1200">
                <a:solidFill>
                  <a:srgbClr val="888888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9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7BE7423C-EEE2-3F45-8EF7-78515AA765E4}"/>
              </a:ext>
            </a:extLst>
          </p:cNvPr>
          <p:cNvSpPr txBox="1">
            <a:spLocks/>
          </p:cNvSpPr>
          <p:nvPr userDrawn="1"/>
        </p:nvSpPr>
        <p:spPr>
          <a:xfrm>
            <a:off x="11378718" y="6705213"/>
            <a:ext cx="279883" cy="276999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defPPr>
              <a:defRPr lang="en-US"/>
            </a:defPPr>
            <a:lvl1pPr algn="r" rtl="0" eaLnBrk="0" fontAlgn="base" hangingPunct="0">
              <a:spcBef>
                <a:spcPct val="0"/>
              </a:spcBef>
              <a:spcAft>
                <a:spcPct val="0"/>
              </a:spcAft>
              <a:defRPr sz="1200" kern="1200">
                <a:solidFill>
                  <a:srgbClr val="888888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9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4C78D2C9-EC69-C447-A43E-74428D9672F5}"/>
              </a:ext>
            </a:extLst>
          </p:cNvPr>
          <p:cNvSpPr txBox="1">
            <a:spLocks/>
          </p:cNvSpPr>
          <p:nvPr userDrawn="1"/>
        </p:nvSpPr>
        <p:spPr>
          <a:xfrm>
            <a:off x="11531118" y="6857613"/>
            <a:ext cx="279883" cy="276999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defPPr>
              <a:defRPr lang="en-US"/>
            </a:defPPr>
            <a:lvl1pPr algn="r" rtl="0" eaLnBrk="0" fontAlgn="base" hangingPunct="0">
              <a:spcBef>
                <a:spcPct val="0"/>
              </a:spcBef>
              <a:spcAft>
                <a:spcPct val="0"/>
              </a:spcAft>
              <a:defRPr sz="1200" kern="1200">
                <a:solidFill>
                  <a:srgbClr val="888888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  <a:sym typeface="Open Sans Regular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45 Helvetica Light" charset="0"/>
                <a:ea typeface="ＭＳ Ｐゴシック" charset="-128"/>
                <a:cs typeface="+mn-cs"/>
              </a:defRPr>
            </a:lvl9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71E7F3-AD6C-224E-BD90-D1A35CEDCAE6}"/>
              </a:ext>
            </a:extLst>
          </p:cNvPr>
          <p:cNvSpPr txBox="1"/>
          <p:nvPr userDrawn="1"/>
        </p:nvSpPr>
        <p:spPr>
          <a:xfrm>
            <a:off x="8640661" y="4823671"/>
            <a:ext cx="5033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86CB4B4D-7CA3-9044-876B-883B54F8677D}" type="slidenum">
              <a:rPr lang="en-US" sz="1200" smtClean="0">
                <a:solidFill>
                  <a:schemeClr val="tx1"/>
                </a:solidFill>
                <a:latin typeface="DM Sans 14pt" pitchFamily="2" charset="77"/>
              </a:rPr>
              <a:pPr algn="ctr"/>
              <a:t>‹#›</a:t>
            </a:fld>
            <a:endParaRPr lang="en-US" sz="1200">
              <a:solidFill>
                <a:schemeClr val="tx1"/>
              </a:solidFill>
              <a:latin typeface="DM Sans 14pt" pitchFamily="2" charset="77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25" r:id="rId1"/>
    <p:sldLayoutId id="2147483819" r:id="rId2"/>
    <p:sldLayoutId id="2147483820" r:id="rId3"/>
    <p:sldLayoutId id="2147483821" r:id="rId4"/>
    <p:sldLayoutId id="2147483822" r:id="rId5"/>
    <p:sldLayoutId id="2147483823" r:id="rId6"/>
    <p:sldLayoutId id="2147483824" r:id="rId7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0">
          <a:solidFill>
            <a:schemeClr val="tx1"/>
          </a:solidFill>
          <a:latin typeface="DM Sans 14pt" pitchFamily="2" charset="77"/>
          <a:ea typeface="Open Sans" charset="0"/>
          <a:cs typeface="Open Sans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Open Sans" charset="0"/>
          <a:ea typeface="Open Sans" charset="0"/>
          <a:cs typeface="Open Sans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Open Sans" charset="0"/>
          <a:ea typeface="Open Sans" charset="0"/>
          <a:cs typeface="Open Sans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Open Sans" charset="0"/>
          <a:ea typeface="Open Sans" charset="0"/>
          <a:cs typeface="Open Sans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Open Sans" charset="0"/>
          <a:ea typeface="Open Sans" charset="0"/>
          <a:cs typeface="Open Sans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" pitchFamily="-110" charset="0"/>
          <a:ea typeface="Osaka" pitchFamily="-110" charset="-128"/>
          <a:cs typeface="Osaka" pitchFamily="-11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" pitchFamily="-110" charset="0"/>
          <a:ea typeface="Osaka" pitchFamily="-110" charset="-128"/>
          <a:cs typeface="Osaka" pitchFamily="-11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" pitchFamily="-110" charset="0"/>
          <a:ea typeface="Osaka" pitchFamily="-110" charset="-128"/>
          <a:cs typeface="Osaka" pitchFamily="-11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Times" pitchFamily="-110" charset="0"/>
          <a:ea typeface="Osaka" pitchFamily="-110" charset="-128"/>
          <a:cs typeface="Osaka" pitchFamily="-110" charset="-128"/>
        </a:defRPr>
      </a:lvl9pPr>
    </p:titleStyle>
    <p:bodyStyle>
      <a:lvl1pPr marL="6350" indent="-6350" algn="l" rtl="0" eaLnBrk="1" fontAlgn="base" hangingPunct="1">
        <a:spcBef>
          <a:spcPts val="600"/>
        </a:spcBef>
        <a:spcAft>
          <a:spcPct val="0"/>
        </a:spcAft>
        <a:defRPr sz="1400">
          <a:solidFill>
            <a:schemeClr val="tx1"/>
          </a:solidFill>
          <a:latin typeface="Open Sans" charset="0"/>
          <a:ea typeface="Open Sans" charset="0"/>
          <a:cs typeface="Open Sans" charset="0"/>
        </a:defRPr>
      </a:lvl1pPr>
      <a:lvl2pPr marL="742950" indent="-285750" algn="l" rtl="0" eaLnBrk="1" fontAlgn="base" hangingPunct="1">
        <a:spcBef>
          <a:spcPts val="600"/>
        </a:spcBef>
        <a:spcAft>
          <a:spcPct val="0"/>
        </a:spcAft>
        <a:buSzPct val="110000"/>
        <a:buFont typeface="Arial" charset="0"/>
        <a:buChar char="•"/>
        <a:defRPr sz="1400">
          <a:solidFill>
            <a:schemeClr val="tx1"/>
          </a:solidFill>
          <a:latin typeface="Open Sans" charset="0"/>
          <a:ea typeface="Open Sans" charset="0"/>
          <a:cs typeface="Open Sans" charset="0"/>
        </a:defRPr>
      </a:lvl2pPr>
      <a:lvl3pPr marL="1200150" indent="-285750" algn="l" rtl="0" eaLnBrk="1" fontAlgn="base" hangingPunct="1">
        <a:spcBef>
          <a:spcPts val="600"/>
        </a:spcBef>
        <a:spcAft>
          <a:spcPct val="0"/>
        </a:spcAft>
        <a:buSzPct val="110000"/>
        <a:buFont typeface=".AppleSystemUIFont" charset="-120"/>
        <a:buChar char="–"/>
        <a:defRPr sz="1400" i="1">
          <a:solidFill>
            <a:schemeClr val="tx1"/>
          </a:solidFill>
          <a:latin typeface="Open Sans" charset="0"/>
          <a:ea typeface="Open Sans" charset="0"/>
          <a:cs typeface="Open Sans" charset="0"/>
        </a:defRPr>
      </a:lvl3pPr>
      <a:lvl4pPr marL="1657350" indent="-285750" algn="l" rtl="0" eaLnBrk="1" fontAlgn="base" hangingPunct="1">
        <a:spcBef>
          <a:spcPts val="600"/>
        </a:spcBef>
        <a:spcAft>
          <a:spcPct val="0"/>
        </a:spcAft>
        <a:buSzPct val="110000"/>
        <a:buFont typeface="Arial" charset="0"/>
        <a:buChar char="•"/>
        <a:defRPr sz="1400">
          <a:solidFill>
            <a:schemeClr val="tx1"/>
          </a:solidFill>
          <a:latin typeface="Open Sans" charset="0"/>
          <a:ea typeface="Open Sans" charset="0"/>
          <a:cs typeface="Open Sans" charset="0"/>
        </a:defRPr>
      </a:lvl4pPr>
      <a:lvl5pPr marL="2057400" indent="-228600" algn="l" rtl="0" eaLnBrk="1" fontAlgn="base" hangingPunct="1">
        <a:spcBef>
          <a:spcPts val="600"/>
        </a:spcBef>
        <a:spcAft>
          <a:spcPct val="0"/>
        </a:spcAft>
        <a:buSzPct val="110000"/>
        <a:buFont typeface=".AppleSystemUIFont" charset="-120"/>
        <a:buChar char="–"/>
        <a:defRPr sz="1400" i="1">
          <a:solidFill>
            <a:schemeClr val="tx1"/>
          </a:solidFill>
          <a:latin typeface="Open Sans" charset="0"/>
          <a:ea typeface="Open Sans" charset="0"/>
          <a:cs typeface="Open Sans" charset="0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pitchFamily="-110" charset="0"/>
          <a:ea typeface="+mn-ea"/>
          <a:cs typeface="+mn-cs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pitchFamily="-110" charset="0"/>
          <a:ea typeface="+mn-ea"/>
          <a:cs typeface="+mn-cs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pitchFamily="-110" charset="0"/>
          <a:ea typeface="+mn-ea"/>
          <a:cs typeface="+mn-cs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Arial" pitchFamily="-110" charset="0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645920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EIA AGENT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D1D5DB"/>
                </a:solidFill>
              </a:rPr>
              <a:t>Automated Environmental Impact Assessment via Multi-Agent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97316"/>
                </a:solidFill>
              </a:rPr>
              <a:t>24-880  ·  AI Agents for Engineers  ·  Carnegie Mellon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74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1D5DB"/>
                </a:solidFill>
              </a:rPr>
              <a:t>[ Group Member Names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1D5DB"/>
                </a:solidFill>
              </a:rPr>
              <a:t>[ Presentation Date ]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Background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7316"/>
                </a:solidFill>
              </a:rPr>
              <a:t>What is NEPA?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National Environmental Policy Act, signed 1970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Requires agencies to assess environmental impact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before approving major federal projects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Screening-level EA: does this need a full EIS?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Full EIS: years of analysis, millions in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0058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7316"/>
                </a:solidFill>
              </a:rPr>
              <a:t>Federal Data Sources Queried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463040"/>
            <a:ext cx="5394960" cy="749808"/>
          </a:xfrm>
          <a:prstGeom prst="rect">
            <a:avLst/>
          </a:prstGeom>
          <a:solidFill>
            <a:srgbClr val="2D3748"/>
          </a:solidFill>
          <a:ln w="1524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5361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AB308"/>
                </a:solidFill>
              </a:rPr>
              <a:t>USFWS IPaC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82880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Threatened &amp; endangered species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331720"/>
            <a:ext cx="5394960" cy="749808"/>
          </a:xfrm>
          <a:prstGeom prst="rect">
            <a:avLst/>
          </a:prstGeom>
          <a:solidFill>
            <a:srgbClr val="2D3748"/>
          </a:solidFill>
          <a:ln w="15240">
            <a:solidFill>
              <a:srgbClr val="06B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40487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3"/>
                </a:solidFill>
              </a:rPr>
              <a:t>Natl. Wetlands Inventory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69748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Wetland presence &amp; type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200400"/>
            <a:ext cx="5394960" cy="749808"/>
          </a:xfrm>
          <a:prstGeom prst="rect">
            <a:avLst/>
          </a:prstGeom>
          <a:solidFill>
            <a:srgbClr val="2D3748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27355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</a:rPr>
              <a:t>FEMA Flood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56616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100-yr floodplain boundaries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4069080"/>
            <a:ext cx="5394960" cy="749808"/>
          </a:xfrm>
          <a:prstGeom prst="rect">
            <a:avLst/>
          </a:prstGeom>
          <a:solidFill>
            <a:srgbClr val="2D3748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414223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USDA Soil Survey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43484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Prime &amp; unique farmland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937760"/>
            <a:ext cx="5394960" cy="749808"/>
          </a:xfrm>
          <a:prstGeom prst="rect">
            <a:avLst/>
          </a:prstGeom>
          <a:solidFill>
            <a:srgbClr val="2D3748"/>
          </a:solidFill>
          <a:ln w="1524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501091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78BFA"/>
                </a:solidFill>
              </a:rPr>
              <a:t>EPA EJScreen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530352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Environmental justice indicators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120640"/>
            <a:ext cx="5303520" cy="146304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5473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97316"/>
                </a:solidFill>
              </a:rPr>
              <a:t>[ NEPA process diagram 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Problem Statement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Reviews take weeks of expert analyst time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5+ databases · hundreds of regulations · written report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Existing tools are black boxes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Regulators require traceable citations and reasoning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No objective quality metric for AI-generated outputs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How do we know the agent got it right?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212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Goal:  automate EIA screening with explainable, confidence-aware AI —  fast enough for early-stage planning, rigorous enough for regulatory review.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Methodology — 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2029968" cy="1828800"/>
          </a:xfrm>
          <a:prstGeom prst="rect">
            <a:avLst/>
          </a:prstGeom>
          <a:solidFill>
            <a:srgbClr val="2D3748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78992"/>
            <a:ext cx="2029968" cy="384048"/>
          </a:xfrm>
          <a:prstGeom prst="rect">
            <a:avLst/>
          </a:prstGeom>
          <a:solidFill>
            <a:srgbClr val="3B82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17904"/>
            <a:ext cx="184708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
Project
Parser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2688336" y="1078992"/>
            <a:ext cx="2029968" cy="1828800"/>
          </a:xfrm>
          <a:prstGeom prst="rect">
            <a:avLst/>
          </a:prstGeom>
          <a:solidFill>
            <a:srgbClr val="2D3748"/>
          </a:solidFill>
          <a:ln w="25400">
            <a:solidFill>
              <a:srgbClr val="06B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88336" y="1078992"/>
            <a:ext cx="2029968" cy="384048"/>
          </a:xfrm>
          <a:prstGeom prst="rect">
            <a:avLst/>
          </a:prstGeom>
          <a:solidFill>
            <a:srgbClr val="06B6D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79776" y="1517904"/>
            <a:ext cx="184708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
Environ.
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19472" y="1078992"/>
            <a:ext cx="2029968" cy="1828800"/>
          </a:xfrm>
          <a:prstGeom prst="rect">
            <a:avLst/>
          </a:prstGeom>
          <a:solidFill>
            <a:srgbClr val="2D3748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19472" y="1078992"/>
            <a:ext cx="2029968" cy="384048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10912" y="1517904"/>
            <a:ext cx="184708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
Regulatory
Screening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50608" y="1078992"/>
            <a:ext cx="2029968" cy="1828800"/>
          </a:xfrm>
          <a:prstGeom prst="rect">
            <a:avLst/>
          </a:prstGeom>
          <a:solidFill>
            <a:srgbClr val="2D3748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50608" y="1078992"/>
            <a:ext cx="2029968" cy="384048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42048" y="1517904"/>
            <a:ext cx="184708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
Impact
Analysis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1744" y="1078992"/>
            <a:ext cx="2029968" cy="1828800"/>
          </a:xfrm>
          <a:prstGeom prst="rect">
            <a:avLst/>
          </a:prstGeom>
          <a:solidFill>
            <a:srgbClr val="2D3748"/>
          </a:solidFill>
          <a:ln w="254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381744" y="1078992"/>
            <a:ext cx="2029968" cy="384048"/>
          </a:xfrm>
          <a:prstGeom prst="rect">
            <a:avLst/>
          </a:prstGeom>
          <a:solidFill>
            <a:srgbClr val="EAB30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3184" y="1517904"/>
            <a:ext cx="184708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5
Report
Synthesis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17520"/>
            <a:ext cx="11064240" cy="27432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0" y="307238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D4A5C"/>
                </a:solidFill>
              </a:rPr>
              <a:t>sequential  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246120"/>
            <a:ext cx="11064240" cy="548640"/>
          </a:xfrm>
          <a:prstGeom prst="rect">
            <a:avLst/>
          </a:prstGeom>
          <a:solidFill>
            <a:srgbClr val="2D3748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35584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</a:rPr>
              <a:t>React + Vite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3374136"/>
            <a:ext cx="8869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SSE streaming UI — real-time status per 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867912"/>
            <a:ext cx="11064240" cy="548640"/>
          </a:xfrm>
          <a:prstGeom prst="rect">
            <a:avLst/>
          </a:prstGeom>
          <a:solidFill>
            <a:srgbClr val="2D3748"/>
          </a:solidFill>
          <a:ln w="12700">
            <a:solidFill>
              <a:srgbClr val="06B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977640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3"/>
                </a:solidFill>
              </a:rPr>
              <a:t>FastAPI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1760" y="3995928"/>
            <a:ext cx="8869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POST /api/run  →  SSE generator  →  PostgreSQL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489704"/>
            <a:ext cx="11064240" cy="548640"/>
          </a:xfrm>
          <a:prstGeom prst="rect">
            <a:avLst/>
          </a:prstGeom>
          <a:solidFill>
            <a:srgbClr val="2D3748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599432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LangGraph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1760" y="4617720"/>
            <a:ext cx="8869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Typed state flows through sequential graph nodes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111496"/>
            <a:ext cx="11064240" cy="548640"/>
          </a:xfrm>
          <a:prstGeom prst="rect">
            <a:avLst/>
          </a:prstGeom>
          <a:solidFill>
            <a:srgbClr val="2D3748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22122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</a:rPr>
              <a:t>pgvector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51760" y="5239512"/>
            <a:ext cx="8869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HNSW cosine index for RAG + evaluation 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486400"/>
            <a:ext cx="11064240" cy="114300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7531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97316"/>
                </a:solidFill>
              </a:rPr>
              <a:t>[ Pipeline / Brain Scanner screenshot 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Methodology — Agent 1: Project Parser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0976"/>
            <a:ext cx="11064240" cy="64008"/>
          </a:xfrm>
          <a:prstGeom prst="rect">
            <a:avLst/>
          </a:prstGeom>
          <a:solidFill>
            <a:srgbClr val="3B82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1D5DB"/>
                </a:solidFill>
              </a:rPr>
              <a:t>Converts a plain-English project description into structured metadata used by every downstream agent.  Model: Gemini 2.5 Flash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5303520" cy="329184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20"/>
            <a:ext cx="50840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3"/>
                </a:solidFill>
              </a:rPr>
              <a:t>INPUTS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12848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Project name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GPS coordinates  (lat, lon)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Free-text project description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828800"/>
            <a:ext cx="5394960" cy="329184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1874520"/>
            <a:ext cx="51755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</a:rPr>
              <a:t>OUTPUTS  (stored as JSONB)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212848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project_type  (highway, solar farm, pipeline…)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scale  (small / medium / large)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location  (city, county, state)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actions  →  column headers in impact matrix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federal_nexus  (triggers NEPA applicability)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206240"/>
            <a:ext cx="11064240" cy="242316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1130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97316"/>
                </a:solidFill>
              </a:rPr>
              <a:t>[ Project Parser output — key/value view in IMPORT RUN panel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Methodology — Agent 2: Environmental Data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0976"/>
            <a:ext cx="11064240" cy="64008"/>
          </a:xfrm>
          <a:prstGeom prst="rect">
            <a:avLst/>
          </a:prstGeom>
          <a:solidFill>
            <a:srgbClr val="06B6D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1D5DB"/>
                </a:solidFill>
              </a:rPr>
              <a:t>Queries 5 federal REST APIs using the project's GPS coordinates.  No LLM — pure deterministic API calls.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19072"/>
            <a:ext cx="2066543" cy="2286000"/>
          </a:xfrm>
          <a:prstGeom prst="rect">
            <a:avLst/>
          </a:prstGeom>
          <a:solidFill>
            <a:srgbClr val="2D3748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719072"/>
            <a:ext cx="2066543" cy="365760"/>
          </a:xfrm>
          <a:prstGeom prst="rect">
            <a:avLst/>
          </a:prstGeom>
          <a:solidFill>
            <a:srgbClr val="EAB30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755648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48840"/>
            <a:ext cx="188366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B308"/>
                </a:solidFill>
              </a:rPr>
              <a:t>USFWS IPaC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706624"/>
            <a:ext cx="1883663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Threatened &amp; endangered species in project area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06623" y="1719072"/>
            <a:ext cx="2066543" cy="2286000"/>
          </a:xfrm>
          <a:prstGeom prst="rect">
            <a:avLst/>
          </a:prstGeom>
          <a:solidFill>
            <a:srgbClr val="2D3748"/>
          </a:solidFill>
          <a:ln w="19050">
            <a:solidFill>
              <a:srgbClr val="06B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06623" y="1719072"/>
            <a:ext cx="2066543" cy="365760"/>
          </a:xfrm>
          <a:prstGeom prst="rect">
            <a:avLst/>
          </a:prstGeom>
          <a:solidFill>
            <a:srgbClr val="06B6D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98063" y="1755648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98063" y="2148840"/>
            <a:ext cx="188366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3"/>
                </a:solidFill>
              </a:rPr>
              <a:t>National Wetlands Inventory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8063" y="2706624"/>
            <a:ext cx="1883663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Wetland polygons, type codes, acreage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56046" y="1719072"/>
            <a:ext cx="2066543" cy="2286000"/>
          </a:xfrm>
          <a:prstGeom prst="rect">
            <a:avLst/>
          </a:prstGeom>
          <a:solidFill>
            <a:srgbClr val="2D3748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6046" y="1719072"/>
            <a:ext cx="2066543" cy="365760"/>
          </a:xfrm>
          <a:prstGeom prst="rect">
            <a:avLst/>
          </a:prstGeom>
          <a:solidFill>
            <a:srgbClr val="3B82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47486" y="1755648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47486" y="2148840"/>
            <a:ext cx="188366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</a:rPr>
              <a:t>FEMA Flood Hazard 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7486" y="2706624"/>
            <a:ext cx="1883663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Zone designations (AE, X…) and SFHA flag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05469" y="1719072"/>
            <a:ext cx="2066543" cy="2286000"/>
          </a:xfrm>
          <a:prstGeom prst="rect">
            <a:avLst/>
          </a:prstGeom>
          <a:solidFill>
            <a:srgbClr val="2D3748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05469" y="1719072"/>
            <a:ext cx="2066543" cy="365760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96909" y="1755648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96909" y="2148840"/>
            <a:ext cx="188366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USDA Web Soil Survey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6909" y="2706624"/>
            <a:ext cx="1883663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Prime / unique farmland classification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54892" y="1719072"/>
            <a:ext cx="2066543" cy="2286000"/>
          </a:xfrm>
          <a:prstGeom prst="rect">
            <a:avLst/>
          </a:prstGeom>
          <a:solidFill>
            <a:srgbClr val="2D3748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454892" y="1719072"/>
            <a:ext cx="2066543" cy="365760"/>
          </a:xfrm>
          <a:prstGeom prst="rect">
            <a:avLst/>
          </a:prstGeom>
          <a:solidFill>
            <a:srgbClr val="A78B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46332" y="1755648"/>
            <a:ext cx="274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46332" y="2148840"/>
            <a:ext cx="188366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78BFA"/>
                </a:solidFill>
              </a:rPr>
              <a:t>EPA EJScreen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46332" y="2706624"/>
            <a:ext cx="1883663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Minority %, low-income %, pollution percentiles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133087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97316"/>
                </a:solidFill>
              </a:rPr>
              <a:t>Partial failures handled gracefully — missing data lowers confidence score (not a crash).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617720"/>
            <a:ext cx="11064240" cy="201168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3187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97316"/>
                </a:solidFill>
              </a:rPr>
              <a:t>[ Environmental Data output — API response cards in IMPORT RUN panel 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Methodology — Agent 3: Regulatory Screening  (RAG)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0976"/>
            <a:ext cx="11064240" cy="64008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1D5DB"/>
                </a:solidFill>
              </a:rPr>
              <a:t>Retrieves applicable regulations using vector similarity search over an indexed corpus of federal CFR parts and state codes.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5303520" cy="329184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9928"/>
            <a:ext cx="50840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3"/>
                </a:solidFill>
              </a:rPr>
              <a:t>INGESTION  (offline)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48256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Upload PDFs via /api/regulations/sources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Or fetch live eCFR XML by title + part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Chunk → embed → pgvector (HNSW cosine index)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Sources scoped to a specific project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664208"/>
            <a:ext cx="5394960" cy="329184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1709928"/>
            <a:ext cx="51755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RETRIEVAL  (at run time)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048256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Embed project context as query vector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Top-K similarity search over project's sources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LLM identifies triggered regulations from chunks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Output: name · citation · jurisdiction · why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480560"/>
            <a:ext cx="11064240" cy="384048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544568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Model: claude-haiku-4-5   ·   Embeddings: text-embedding-3-small   ·   Vector DB: pgvector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983480"/>
            <a:ext cx="11064240" cy="164592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5016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97316"/>
                </a:solidFill>
              </a:rPr>
              <a:t>[ Regulatory Screening output — regulation cards in IMPORT RUN panel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Methodology — Agent 4: Impact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0976"/>
            <a:ext cx="11064240" cy="64008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1D5DB"/>
                </a:solidFill>
              </a:rPr>
              <a:t>Populates a significance matrix: every project action × every environmental resource category, governed by the applicable regulation.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55648"/>
            <a:ext cx="1636776" cy="452628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828800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Category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12848" y="1755648"/>
            <a:ext cx="1636776" cy="452628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76856" y="1828800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Site Prep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77056" y="1755648"/>
            <a:ext cx="1636776" cy="452628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41064" y="1828800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Construction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41264" y="1755648"/>
            <a:ext cx="1636776" cy="452628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05272" y="1828800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Operation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231136"/>
            <a:ext cx="1636776" cy="452628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2304288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Wetlands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12848" y="2231136"/>
            <a:ext cx="1636776" cy="452628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76856" y="2304288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77056" y="2231136"/>
            <a:ext cx="1636776" cy="452628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41064" y="2304288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F4444"/>
                </a:solidFill>
              </a:rPr>
              <a:t>significant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41264" y="2231136"/>
            <a:ext cx="1636776" cy="452628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05272" y="2304288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</a:rPr>
              <a:t>minimal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706624"/>
            <a:ext cx="1636776" cy="452628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2779776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Endangered Spp.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12848" y="2706624"/>
            <a:ext cx="1636776" cy="452628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76856" y="2779776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B6D3"/>
                </a:solidFill>
              </a:rPr>
              <a:t>none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77056" y="2706624"/>
            <a:ext cx="1636776" cy="452628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41064" y="2779776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F4444"/>
                </a:solidFill>
              </a:rPr>
              <a:t>significant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41264" y="2706624"/>
            <a:ext cx="1636776" cy="452628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05272" y="2779776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B6D3"/>
                </a:solidFill>
              </a:rPr>
              <a:t>none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182112"/>
            <a:ext cx="1636776" cy="452628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3255264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Floodplain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12848" y="3182112"/>
            <a:ext cx="1636776" cy="452628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276856" y="3255264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77056" y="3182112"/>
            <a:ext cx="1636776" cy="452628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41064" y="3255264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41264" y="3182112"/>
            <a:ext cx="1636776" cy="452628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05272" y="3255264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B6D3"/>
                </a:solidFill>
              </a:rPr>
              <a:t>none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3657600"/>
            <a:ext cx="1636776" cy="452628"/>
          </a:xfrm>
          <a:prstGeom prst="rect">
            <a:avLst/>
          </a:prstGeom>
          <a:solidFill>
            <a:srgbClr val="1A202C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" y="3730752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Air Quality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12848" y="3657600"/>
            <a:ext cx="1636776" cy="452628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76856" y="3730752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</a:rPr>
              <a:t>minimal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877056" y="3657600"/>
            <a:ext cx="1636776" cy="452628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41064" y="3730752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541264" y="3657600"/>
            <a:ext cx="1636776" cy="452628"/>
          </a:xfrm>
          <a:prstGeom prst="rect">
            <a:avLst/>
          </a:prstGeom>
          <a:solidFill>
            <a:srgbClr val="2D3748"/>
          </a:solidFill>
          <a:ln w="9525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05272" y="3730752"/>
            <a:ext cx="15179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</a:rPr>
              <a:t>minimal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4242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Scale: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371600" y="4288536"/>
            <a:ext cx="146304" cy="146304"/>
          </a:xfrm>
          <a:prstGeom prst="rect">
            <a:avLst/>
          </a:prstGeom>
          <a:solidFill>
            <a:srgbClr val="EF444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72768" y="42428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F4444"/>
                </a:solidFill>
              </a:rPr>
              <a:t>significant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26080" y="4288536"/>
            <a:ext cx="146304" cy="146304"/>
          </a:xfrm>
          <a:prstGeom prst="rect">
            <a:avLst/>
          </a:prstGeom>
          <a:solidFill>
            <a:srgbClr val="EAB30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127248" y="42428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80560" y="4288536"/>
            <a:ext cx="146304" cy="146304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81728" y="42428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</a:rPr>
              <a:t>minimal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35040" y="4288536"/>
            <a:ext cx="146304" cy="146304"/>
          </a:xfrm>
          <a:prstGeom prst="rect">
            <a:avLst/>
          </a:prstGeom>
          <a:solidFill>
            <a:srgbClr val="06B6D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36208" y="42428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B6D3"/>
                </a:solidFill>
              </a:rPr>
              <a:t>none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0" y="1719072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</a:rPr>
              <a:t>Each cell contains: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315200" y="2084831"/>
            <a:ext cx="4663440" cy="621792"/>
          </a:xfrm>
          <a:prstGeom prst="rect">
            <a:avLst/>
          </a:prstGeom>
          <a:solidFill>
            <a:srgbClr val="2D3748"/>
          </a:solidFill>
          <a:ln w="1016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52360" y="2130551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significance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52360" y="2386583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significant / moderate / minimal / none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0" y="2779775"/>
            <a:ext cx="4663440" cy="621792"/>
          </a:xfrm>
          <a:prstGeom prst="rect">
            <a:avLst/>
          </a:prstGeom>
          <a:solidFill>
            <a:srgbClr val="2D3748"/>
          </a:solidFill>
          <a:ln w="1016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452360" y="2825495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B308"/>
                </a:solidFill>
              </a:rPr>
              <a:t>confidence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52360" y="3081527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0.0 – 1.0  (see next slide)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315200" y="3474719"/>
            <a:ext cx="4663440" cy="621792"/>
          </a:xfrm>
          <a:prstGeom prst="rect">
            <a:avLst/>
          </a:prstGeom>
          <a:solidFill>
            <a:srgbClr val="2D3748"/>
          </a:solidFill>
          <a:ln w="1016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52360" y="3520439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1D5DB"/>
                </a:solidFill>
              </a:rPr>
              <a:t>reasoning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52360" y="3776471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1–2 sentence explanation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315200" y="4169663"/>
            <a:ext cx="4663440" cy="621792"/>
          </a:xfrm>
          <a:prstGeom prst="rect">
            <a:avLst/>
          </a:prstGeom>
          <a:solidFill>
            <a:srgbClr val="2D3748"/>
          </a:solidFill>
          <a:ln w="1016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52360" y="4215383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mitigation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52360" y="4471415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avoidance / minimization / compensatory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15200" y="4864607"/>
            <a:ext cx="4663440" cy="621792"/>
          </a:xfrm>
          <a:prstGeom prst="rect">
            <a:avLst/>
          </a:prstGeom>
          <a:solidFill>
            <a:srgbClr val="2D3748"/>
          </a:solidFill>
          <a:ln w="1016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452360" y="4910327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</a:rPr>
              <a:t>needs_review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52360" y="5166359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True when confidence &lt; 0.60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" y="5440680"/>
            <a:ext cx="6400800" cy="118872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85800" y="5730240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97316"/>
                </a:solidFill>
              </a:rPr>
              <a:t>[ Impact matrix — color-coded significance table from a real run 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Confidence Score Tiers  (Impact Analysis Agent)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1D5DB"/>
                </a:solidFill>
              </a:rPr>
              <a:t>The LLM assigns a confidence score to each matrix cell based on data availability and regulatory specificity.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72768"/>
            <a:ext cx="11064240" cy="347472"/>
          </a:xfrm>
          <a:prstGeom prst="rect">
            <a:avLst/>
          </a:prstGeom>
          <a:solidFill>
            <a:srgbClr val="1A20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934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1609344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TIER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60934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DATA?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1609344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WHAT IT MEANS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920240"/>
            <a:ext cx="11064240" cy="621792"/>
          </a:xfrm>
          <a:prstGeom prst="rect">
            <a:avLst/>
          </a:prstGeom>
          <a:solidFill>
            <a:srgbClr val="2D3748"/>
          </a:solidFill>
          <a:ln w="6350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06654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C55E"/>
                </a:solidFill>
              </a:rPr>
              <a:t>0.85–1.0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084832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8768" y="2084832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Yes — quantified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2011680"/>
            <a:ext cx="5943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API returned specific data AND regulation has explicit numeric thresholds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578608"/>
            <a:ext cx="11064240" cy="621792"/>
          </a:xfrm>
          <a:prstGeom prst="rect">
            <a:avLst/>
          </a:prstGeom>
          <a:solidFill>
            <a:srgbClr val="2D3748"/>
          </a:solidFill>
          <a:ln w="6350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72491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B6D3"/>
                </a:solidFill>
              </a:rPr>
              <a:t>0.65–0.84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2743200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3"/>
                </a:solidFill>
              </a:rPr>
              <a:t>GOOD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58768" y="2743200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Yes — general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2670048"/>
            <a:ext cx="5943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API data present but regulatory threshold is a judgment call (no explicit number)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236976"/>
            <a:ext cx="11064240" cy="621792"/>
          </a:xfrm>
          <a:prstGeom prst="rect">
            <a:avLst/>
          </a:prstGeom>
          <a:solidFill>
            <a:srgbClr val="2D3748"/>
          </a:solidFill>
          <a:ln w="6350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3832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AB308"/>
                </a:solidFill>
              </a:rPr>
              <a:t>0.45–0.64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3401568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AB308"/>
                </a:solidFill>
              </a:rPr>
              <a:t>MODERATE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58768" y="3401568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Partial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32120" y="3328416"/>
            <a:ext cx="5943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Some APIs errored / empty, or regulation is tangentially related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895344"/>
            <a:ext cx="11064240" cy="621792"/>
          </a:xfrm>
          <a:prstGeom prst="rect">
            <a:avLst/>
          </a:prstGeom>
          <a:solidFill>
            <a:srgbClr val="2D3748"/>
          </a:solidFill>
          <a:ln w="6350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404164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97316"/>
                </a:solidFill>
              </a:rPr>
              <a:t>0.25–0.44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48840" y="4059936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</a:rPr>
              <a:t>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4059936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32120" y="3986784"/>
            <a:ext cx="5943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No direct data — determination relies on general domain knowledge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553712"/>
            <a:ext cx="11064240" cy="621792"/>
          </a:xfrm>
          <a:prstGeom prst="rect">
            <a:avLst/>
          </a:prstGeom>
          <a:solidFill>
            <a:srgbClr val="2D3748"/>
          </a:solidFill>
          <a:ln w="6350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70001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F4444"/>
                </a:solidFill>
              </a:rPr>
              <a:t>0.00–0.24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48840" y="4718304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</a:rPr>
              <a:t>VERY 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58768" y="4718304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32120" y="4645152"/>
            <a:ext cx="5943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Pure extrapolation — no supporting data or regulatory context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303520"/>
            <a:ext cx="11064240" cy="438912"/>
          </a:xfrm>
          <a:prstGeom prst="rect">
            <a:avLst/>
          </a:prstGeom>
          <a:solidFill>
            <a:srgbClr val="3B1A1A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5358384"/>
            <a:ext cx="10698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</a:rPr>
              <a:t>needs_review = True  when  confidence &lt; 0.60  →  cell is highlighted in the UI for human expert review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5870448"/>
            <a:ext cx="11064240" cy="77724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95426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97316"/>
                </a:solidFill>
              </a:rPr>
              <a:t>[ Impact matrix UI — needs_review cells highlighted 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Methodology — Agent 5: Report Synthesis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50976"/>
            <a:ext cx="11064240" cy="64008"/>
          </a:xfrm>
          <a:prstGeom prst="rect">
            <a:avLst/>
          </a:prstGeom>
          <a:solidFill>
            <a:srgbClr val="EAB30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1D5DB"/>
                </a:solidFill>
              </a:rPr>
              <a:t>Generates a 10-section NEPA Environmental Assessment narrative.  Sections 1–7: LLM-written with inline citations.  Sections 8–10: templated.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</a:rPr>
              <a:t>1.  Project Description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</a:rPr>
              <a:t>2.  Purpose and Need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</a:rPr>
              <a:t>3.  Alternatives Analysis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</a:rPr>
              <a:t>4.  Affected Environment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</a:rPr>
              <a:t>5.  Environmental Consequences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</a:rPr>
              <a:t>6.  Cumulative Impacts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</a:rPr>
              <a:t>7.  Mitigation Measures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</a:rPr>
              <a:t>8.  Regulatory Compliance Summary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</a:rPr>
              <a:t>9.  Agency Coordination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</a:rPr>
              <a:t>10. References &amp; Data Sources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297680"/>
            <a:ext cx="11064240" cy="384048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61688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Model: Gemini 2.5 Flash   ·   Every statement cites the regulation and federal data source that drove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828032"/>
            <a:ext cx="11064240" cy="182880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43763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97316"/>
                </a:solidFill>
              </a:rPr>
              <a:t>[ Report Synthesis output — sectioned narrative in IMPORT RUN panel 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Methodology — Evaluation Process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1D5DB"/>
                </a:solidFill>
              </a:rPr>
              <a:t>Upload a published EIS document for the same project.  Score the agent's impact matrix against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27632"/>
            <a:ext cx="2103120" cy="3291840"/>
          </a:xfrm>
          <a:prstGeom prst="rect">
            <a:avLst/>
          </a:prstGeom>
          <a:solidFill>
            <a:srgbClr val="2D3748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27632"/>
            <a:ext cx="2103120" cy="384048"/>
          </a:xfrm>
          <a:prstGeom prst="rect">
            <a:avLst/>
          </a:prstGeom>
          <a:solidFill>
            <a:srgbClr val="3B82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1. UPLOAD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03120"/>
            <a:ext cx="1883664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1D5DB"/>
                </a:solidFill>
              </a:rPr>
              <a:t>User uploads a
published EIS PDF
for a saved project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61488" y="1627632"/>
            <a:ext cx="2103120" cy="3291840"/>
          </a:xfrm>
          <a:prstGeom prst="rect">
            <a:avLst/>
          </a:prstGeom>
          <a:solidFill>
            <a:srgbClr val="2D3748"/>
          </a:solidFill>
          <a:ln w="19050">
            <a:solidFill>
              <a:srgbClr val="06B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61488" y="1627632"/>
            <a:ext cx="2103120" cy="384048"/>
          </a:xfrm>
          <a:prstGeom prst="rect">
            <a:avLst/>
          </a:prstGeom>
          <a:solidFill>
            <a:srgbClr val="06B6D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52928" y="169164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2. PARSE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71216" y="2103120"/>
            <a:ext cx="1883664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1D5DB"/>
                </a:solidFill>
              </a:rPr>
              <a:t>PDF chunked,
embedded, stored
in pgvector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65776" y="1627632"/>
            <a:ext cx="2103120" cy="3291840"/>
          </a:xfrm>
          <a:prstGeom prst="rect">
            <a:avLst/>
          </a:prstGeom>
          <a:solidFill>
            <a:srgbClr val="2D3748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65776" y="1627632"/>
            <a:ext cx="2103120" cy="384048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169164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3. EXTRACT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5504" y="2103120"/>
            <a:ext cx="1883664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1D5DB"/>
                </a:solidFill>
              </a:rPr>
              <a:t>LLM reads chunks
→ ground truth:
category + significance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70064" y="1627632"/>
            <a:ext cx="2103120" cy="329184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70064" y="1627632"/>
            <a:ext cx="2103120" cy="384048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61504" y="169164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4. SCORE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9792" y="2103120"/>
            <a:ext cx="1883664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1D5DB"/>
                </a:solidFill>
              </a:rPr>
              <a:t>Agent matrix vs.
ground truth →
3 metrics computed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74352" y="1627632"/>
            <a:ext cx="2103120" cy="3291840"/>
          </a:xfrm>
          <a:prstGeom prst="rect">
            <a:avLst/>
          </a:prstGeom>
          <a:solidFill>
            <a:srgbClr val="2D3748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74352" y="1627632"/>
            <a:ext cx="2103120" cy="384048"/>
          </a:xfrm>
          <a:prstGeom prst="rect">
            <a:avLst/>
          </a:prstGeom>
          <a:solidFill>
            <a:srgbClr val="EAB30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65792" y="1691640"/>
            <a:ext cx="1920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5.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2103120"/>
            <a:ext cx="1883664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1D5DB"/>
                </a:solidFill>
              </a:rPr>
              <a:t>Per-category
TP / FP / FN
breakdown shown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010912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97316"/>
                </a:solidFill>
              </a:rPr>
              <a:t>Ground truth extraction is cached — runs once per EIS document, not per scoring request.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468112"/>
            <a:ext cx="11064240" cy="118872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75767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97316"/>
                </a:solidFill>
              </a:rPr>
              <a:t>[ Evaluation page — upload panel + score bars 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97316"/>
                </a:solidFill>
              </a:rPr>
              <a:t>Prompts  (1/2)  —  15 total across 5 LLM callers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1D5DB"/>
                </a:solidFill>
              </a:rPr>
              <a:t>Every agent uses a system prompt (role + rules) paired with a user prompt (runtime data). All non-report prompts enforce JSON-only output.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36192"/>
            <a:ext cx="11064240" cy="310896"/>
          </a:xfrm>
          <a:prstGeom prst="rect">
            <a:avLst/>
          </a:prstGeom>
          <a:solidFill>
            <a:srgbClr val="1A20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572768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7316"/>
                </a:solidFill>
              </a:rPr>
              <a:t>CALLER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572768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7316"/>
                </a:solidFill>
              </a:rPr>
              <a:t>SYSTEM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1572768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7316"/>
                </a:solidFill>
              </a:rPr>
              <a:t>USER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1572768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7316"/>
                </a:solidFill>
              </a:rPr>
              <a:t>FILE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901952"/>
            <a:ext cx="11064240" cy="969264"/>
          </a:xfrm>
          <a:prstGeom prst="rect">
            <a:avLst/>
          </a:prstGeom>
          <a:solidFill>
            <a:srgbClr val="2D3748"/>
          </a:solidFill>
          <a:ln w="6350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1975104"/>
            <a:ext cx="1463040" cy="822960"/>
          </a:xfrm>
          <a:prstGeom prst="rect">
            <a:avLst/>
          </a:prstGeom>
          <a:solidFill>
            <a:srgbClr val="1A202C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066544"/>
            <a:ext cx="12984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</a:rPr>
              <a:t>Project Parser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1993392"/>
            <a:ext cx="34015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Extract structured metadata from NL input; respond JSON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1993392"/>
            <a:ext cx="34015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Format name + coords + description → 5 JSON fields
(project_type, scale, location, actions, federal_nexus)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157984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97316"/>
                </a:solidFill>
              </a:rPr>
              <a:t>agents/project_parser.py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926080"/>
            <a:ext cx="11064240" cy="969264"/>
          </a:xfrm>
          <a:prstGeom prst="rect">
            <a:avLst/>
          </a:prstGeom>
          <a:solidFill>
            <a:srgbClr val="1F2833"/>
          </a:solidFill>
          <a:ln w="6350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2999232"/>
            <a:ext cx="1463040" cy="822960"/>
          </a:xfrm>
          <a:prstGeom prst="rect">
            <a:avLst/>
          </a:prstGeom>
          <a:solidFill>
            <a:srgbClr val="1A202C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090672"/>
            <a:ext cx="12984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</a:rPr>
              <a:t>Regulatory Screening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3017520"/>
            <a:ext cx="34015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NEPA compliance assistant; identify permits &amp; approvals;
no invented citations; JSON array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60" y="3017520"/>
            <a:ext cx="34015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RAG: top-8 retrieved CFR chunks + project context
→ list of triggered regulations with citations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3182112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97316"/>
                </a:solidFill>
              </a:rPr>
              <a:t>agents/regulatory_screening.py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950208"/>
            <a:ext cx="11064240" cy="969264"/>
          </a:xfrm>
          <a:prstGeom prst="rect">
            <a:avLst/>
          </a:prstGeom>
          <a:solidFill>
            <a:srgbClr val="2D3748"/>
          </a:solidFill>
          <a:ln w="6350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023360"/>
            <a:ext cx="1463040" cy="822960"/>
          </a:xfrm>
          <a:prstGeom prst="rect">
            <a:avLst/>
          </a:prstGeom>
          <a:solidFill>
            <a:srgbClr val="1A202C"/>
          </a:solidFill>
          <a:ln w="1524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114800"/>
            <a:ext cx="12984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Impact Analysis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4041648"/>
            <a:ext cx="34015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Assess every action × category × regulation;
confidence tiers tied to data quality (see slide 9)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4041648"/>
            <a:ext cx="34015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Compile env API data + regulations + actions
→ cells JSON with significance + confidence + mitigation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420624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97316"/>
                </a:solidFill>
              </a:rPr>
              <a:t>agents/impact_analysis.py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974336"/>
            <a:ext cx="11064240" cy="969264"/>
          </a:xfrm>
          <a:prstGeom prst="rect">
            <a:avLst/>
          </a:prstGeom>
          <a:solidFill>
            <a:srgbClr val="1F2833"/>
          </a:solidFill>
          <a:ln w="6350">
            <a:solidFill>
              <a:srgbClr val="3D4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5047488"/>
            <a:ext cx="1463040" cy="822960"/>
          </a:xfrm>
          <a:prstGeom prst="rect">
            <a:avLst/>
          </a:prstGeom>
          <a:solidFill>
            <a:srgbClr val="1A202C"/>
          </a:solidFill>
          <a:ln w="1524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138928"/>
            <a:ext cx="129844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78BFA"/>
                </a:solidFill>
              </a:rPr>
              <a:t>GT Extractor
(Evaluation)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48840" y="5065776"/>
            <a:ext cx="34015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Expert EIS analyst; extract ALL resource categories
and significance levels; JSON array only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23560" y="5065776"/>
            <a:ext cx="34015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1D5DB"/>
                </a:solidFill>
              </a:rPr>
              <a:t>Up to 40 sampled EIS chunks (tables prioritized)
→ ground truth: category + significance + evidence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5230368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97316"/>
                </a:solidFill>
              </a:rPr>
              <a:t>rag_eval/extractor.py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97316"/>
                </a:solidFill>
              </a:rPr>
              <a:t>Prompts  (2/2)  —  Agent 5: Report Synthesis  (7 prompts)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1D5DB"/>
                </a:solidFill>
              </a:rPr>
              <a:t>One system prompt sets the NEPA technical-writer role.  Six separate LLM calls generate individual EA sections.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11064240" cy="566928"/>
          </a:xfrm>
          <a:prstGeom prst="rect">
            <a:avLst/>
          </a:prstGeom>
          <a:solidFill>
            <a:srgbClr val="1A202C"/>
          </a:solidFill>
          <a:ln w="1524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1790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AB308"/>
                </a:solidFill>
              </a:rPr>
              <a:t>SYSTEM  (shared across all 6 section calls)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NEPA technical writer · professional passive-voice prose · no invented data · return section content only (no title/number) · 3–5 sentence paragraphs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0" y="1591056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97316"/>
                </a:solidFill>
              </a:rPr>
              <a:t>agents/report_synthesis.py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76272"/>
            <a:ext cx="5394960" cy="1188720"/>
          </a:xfrm>
          <a:prstGeom prst="rect">
            <a:avLst/>
          </a:prstGeom>
          <a:solidFill>
            <a:srgbClr val="2D3748"/>
          </a:solidFill>
          <a:ln w="1016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24942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B308"/>
                </a:solidFill>
              </a:rPr>
              <a:t>§1  Purpose &amp; Need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560320"/>
            <a:ext cx="5120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1–2 paragraphs: why this project,
what need it addresses, where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127248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F97316"/>
                </a:solidFill>
              </a:rPr>
              <a:t>agents/templates/nepa_ea.py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176272"/>
            <a:ext cx="5394960" cy="1188720"/>
          </a:xfrm>
          <a:prstGeom prst="rect">
            <a:avLst/>
          </a:prstGeom>
          <a:solidFill>
            <a:srgbClr val="2D3748"/>
          </a:solidFill>
          <a:ln w="1016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24942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B308"/>
                </a:solidFill>
              </a:rPr>
              <a:t>§2  Proposed 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560320"/>
            <a:ext cx="5120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2–3 paragraphs: describe project
and each discrete 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3127248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F97316"/>
                </a:solidFill>
              </a:rPr>
              <a:t>agents/templates/nepa_ea.py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493008"/>
            <a:ext cx="5394960" cy="1188720"/>
          </a:xfrm>
          <a:prstGeom prst="rect">
            <a:avLst/>
          </a:prstGeom>
          <a:solidFill>
            <a:srgbClr val="2D3748"/>
          </a:solidFill>
          <a:ln w="1016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5661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B308"/>
                </a:solidFill>
              </a:rPr>
              <a:t>§3  No-Action Alternative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877056"/>
            <a:ext cx="5120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1 paragraph: what happens if
project does not proceed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443984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F97316"/>
                </a:solidFill>
              </a:rPr>
              <a:t>agents/templates/nepa_ea.py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3493008"/>
            <a:ext cx="5394960" cy="1188720"/>
          </a:xfrm>
          <a:prstGeom prst="rect">
            <a:avLst/>
          </a:prstGeom>
          <a:solidFill>
            <a:srgbClr val="2D3748"/>
          </a:solidFill>
          <a:ln w="1016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35661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B308"/>
                </a:solidFill>
              </a:rPr>
              <a:t>§4  Affected Environment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877056"/>
            <a:ext cx="5120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Convert raw API data into readable
narrative of existing conditions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4443984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F97316"/>
                </a:solidFill>
              </a:rPr>
              <a:t>agents/templates/nepa_ea.py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809744"/>
            <a:ext cx="5394960" cy="1188720"/>
          </a:xfrm>
          <a:prstGeom prst="rect">
            <a:avLst/>
          </a:prstGeom>
          <a:solidFill>
            <a:srgbClr val="2D3748"/>
          </a:solidFill>
          <a:ln w="1016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8828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B308"/>
                </a:solidFill>
              </a:rPr>
              <a:t>§5  Environmental Consequences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193792"/>
            <a:ext cx="5120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Impact per category: actions causing it,
significance level, regulatory basis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5760720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F97316"/>
                </a:solidFill>
              </a:rPr>
              <a:t>agents/templates/nepa_ea.py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4809744"/>
            <a:ext cx="5394960" cy="1188720"/>
          </a:xfrm>
          <a:prstGeom prst="rect">
            <a:avLst/>
          </a:prstGeom>
          <a:solidFill>
            <a:srgbClr val="2D3748"/>
          </a:solidFill>
          <a:ln w="1016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48828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AB308"/>
                </a:solidFill>
              </a:rPr>
              <a:t>§6  Mitigation Measures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5193792"/>
            <a:ext cx="5120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1D5DB"/>
                </a:solidFill>
              </a:rPr>
              <a:t>Describe mitigations grouped by type:
avoidance / minimization / compensatory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20" y="5760720"/>
            <a:ext cx="2331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F97316"/>
                </a:solidFill>
              </a:rPr>
              <a:t>agents/templates/nepa_ea.py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Results — Agent Outputs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78992"/>
            <a:ext cx="2103120" cy="2926080"/>
          </a:xfrm>
          <a:prstGeom prst="rect">
            <a:avLst/>
          </a:prstGeom>
          <a:solidFill>
            <a:srgbClr val="2D3748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78992"/>
            <a:ext cx="2103120" cy="365760"/>
          </a:xfrm>
          <a:prstGeom prst="rect">
            <a:avLst/>
          </a:prstGeom>
          <a:solidFill>
            <a:srgbClr val="3B82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99616"/>
            <a:ext cx="19568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</a:rPr>
              <a:t>Project
Parser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03120"/>
            <a:ext cx="1883664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1D5DB"/>
                </a:solidFill>
              </a:rPr>
              <a:t>project_type: "highway"
actions: ["grading","paving"]
federal_nexus: true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8" y="1078992"/>
            <a:ext cx="2103120" cy="2926080"/>
          </a:xfrm>
          <a:prstGeom prst="rect">
            <a:avLst/>
          </a:prstGeom>
          <a:solidFill>
            <a:srgbClr val="2D3748"/>
          </a:solidFill>
          <a:ln w="19050">
            <a:solidFill>
              <a:srgbClr val="06B6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61488" y="1078992"/>
            <a:ext cx="2103120" cy="365760"/>
          </a:xfrm>
          <a:prstGeom prst="rect">
            <a:avLst/>
          </a:prstGeom>
          <a:solidFill>
            <a:srgbClr val="06B6D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4640" y="1499616"/>
            <a:ext cx="19568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3"/>
                </a:solidFill>
              </a:rPr>
              <a:t>Environ.
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71216" y="2103120"/>
            <a:ext cx="1883664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1D5DB"/>
                </a:solidFill>
              </a:rPr>
              <a:t>Species: Indiana bat
Wetlands: 4.2 ac PEM1C
FEMA: Zone AE
Farmland: Prime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65776" y="1078992"/>
            <a:ext cx="2103120" cy="2926080"/>
          </a:xfrm>
          <a:prstGeom prst="rect">
            <a:avLst/>
          </a:prstGeom>
          <a:solidFill>
            <a:srgbClr val="2D3748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65776" y="1078992"/>
            <a:ext cx="2103120" cy="365760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38928" y="1499616"/>
            <a:ext cx="19568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</a:rPr>
              <a:t>Regulatory
Screening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5504" y="2103120"/>
            <a:ext cx="1883664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1D5DB"/>
                </a:solidFill>
              </a:rPr>
              <a:t>CWA §404 — Wetlands
ESA §7 — Species
EO 11990 — Floodplain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0064" y="1078992"/>
            <a:ext cx="2103120" cy="292608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70064" y="1078992"/>
            <a:ext cx="2103120" cy="365760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43216" y="1499616"/>
            <a:ext cx="19568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7316"/>
                </a:solidFill>
              </a:rPr>
              <a:t>Impact
Matrix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79792" y="2103120"/>
            <a:ext cx="1883664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1D5DB"/>
                </a:solidFill>
              </a:rPr>
              <a:t>wetlands × grading:
  sig: significant
  conf: 0.82
  review: false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74352" y="1078992"/>
            <a:ext cx="2103120" cy="2926080"/>
          </a:xfrm>
          <a:prstGeom prst="rect">
            <a:avLst/>
          </a:prstGeom>
          <a:solidFill>
            <a:srgbClr val="2D3748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74352" y="1078992"/>
            <a:ext cx="2103120" cy="365760"/>
          </a:xfrm>
          <a:prstGeom prst="rect">
            <a:avLst/>
          </a:prstGeom>
          <a:solidFill>
            <a:srgbClr val="EAB30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1499616"/>
            <a:ext cx="19568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AB308"/>
                </a:solidFill>
              </a:rPr>
              <a:t>Report
Synthesis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2103120"/>
            <a:ext cx="1883664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1D5DB"/>
                </a:solidFill>
              </a:rPr>
              <a:t>"4.2 ac of PEM1C wetland
intersects the 100-yr
floodplain (Zone AE)…"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160520"/>
            <a:ext cx="11064240" cy="2487168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099304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97316"/>
                </a:solidFill>
              </a:rPr>
              <a:t>[ IMPORT RUN panel — all 5 agents expanded 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Results — Evaluation Scores  (mock data)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Overall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161288"/>
            <a:ext cx="4389120" cy="274320"/>
          </a:xfrm>
          <a:prstGeom prst="rect">
            <a:avLst/>
          </a:prstGeom>
          <a:solidFill>
            <a:srgbClr val="1A20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1161288"/>
            <a:ext cx="3423513" cy="274320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69480" y="112471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</a:rPr>
              <a:t>78%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70992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Category F1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1728216"/>
            <a:ext cx="4389120" cy="274320"/>
          </a:xfrm>
          <a:prstGeom prst="rect">
            <a:avLst/>
          </a:prstGeom>
          <a:solidFill>
            <a:srgbClr val="1A20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0" y="1728216"/>
            <a:ext cx="3291840" cy="274320"/>
          </a:xfrm>
          <a:prstGeom prst="rect">
            <a:avLst/>
          </a:prstGeom>
          <a:solidFill>
            <a:srgbClr val="3B82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9480" y="16916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B82F6"/>
                </a:solidFill>
              </a:rPr>
              <a:t>0.75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276856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Precision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0" y="2295144"/>
            <a:ext cx="4389120" cy="274320"/>
          </a:xfrm>
          <a:prstGeom prst="rect">
            <a:avLst/>
          </a:prstGeom>
          <a:solidFill>
            <a:srgbClr val="1A20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0" y="2295144"/>
            <a:ext cx="3642969" cy="274320"/>
          </a:xfrm>
          <a:prstGeom prst="rect">
            <a:avLst/>
          </a:prstGeom>
          <a:solidFill>
            <a:srgbClr val="06B6D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225856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3"/>
                </a:solidFill>
              </a:rPr>
              <a:t>0.83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84378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Recall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0" y="2862072"/>
            <a:ext cx="4389120" cy="274320"/>
          </a:xfrm>
          <a:prstGeom prst="rect">
            <a:avLst/>
          </a:prstGeom>
          <a:solidFill>
            <a:srgbClr val="1A20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0" y="2862072"/>
            <a:ext cx="2940710" cy="274320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9480" y="2825496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0.67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41071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Significance Accuracy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0" y="3429000"/>
            <a:ext cx="4389120" cy="274320"/>
          </a:xfrm>
          <a:prstGeom prst="rect">
            <a:avLst/>
          </a:prstGeom>
          <a:solidFill>
            <a:srgbClr val="1A20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0" y="3429000"/>
            <a:ext cx="3555187" cy="274320"/>
          </a:xfrm>
          <a:prstGeom prst="rect">
            <a:avLst/>
          </a:prstGeom>
          <a:solidFill>
            <a:srgbClr val="EAB30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69480" y="3392424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AB308"/>
                </a:solidFill>
              </a:rPr>
              <a:t>0.81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776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Semantic Coverage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0" y="3995928"/>
            <a:ext cx="4389120" cy="274320"/>
          </a:xfrm>
          <a:prstGeom prst="rect">
            <a:avLst/>
          </a:prstGeom>
          <a:solidFill>
            <a:srgbClr val="1A20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0" y="3995928"/>
            <a:ext cx="3160166" cy="274320"/>
          </a:xfrm>
          <a:prstGeom prst="rect">
            <a:avLst/>
          </a:prstGeom>
          <a:solidFill>
            <a:srgbClr val="A78B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69480" y="395935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78BFA"/>
                </a:solidFill>
              </a:rPr>
              <a:t>0.72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956048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7316"/>
                </a:solidFill>
              </a:rPr>
              <a:t>PER-CATEGORY BREAKDOWN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303520"/>
            <a:ext cx="6355080" cy="256032"/>
          </a:xfrm>
          <a:prstGeom prst="rect">
            <a:avLst/>
          </a:prstGeom>
          <a:solidFill>
            <a:srgbClr val="1A20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" y="534009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7316"/>
                </a:solidFill>
              </a:rPr>
              <a:t>Category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35224" y="534009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7316"/>
                </a:solidFill>
              </a:rPr>
              <a:t>Label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58184" y="5340096"/>
            <a:ext cx="1234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7316"/>
                </a:solidFill>
              </a:rPr>
              <a:t>Agent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38344" y="5340096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97316"/>
                </a:solidFill>
              </a:rPr>
              <a:t>Ground Truth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559552"/>
            <a:ext cx="6355080" cy="173736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5577840"/>
            <a:ext cx="22860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wetlands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35224" y="5577840"/>
            <a:ext cx="7772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2C55E"/>
                </a:solidFill>
              </a:rPr>
              <a:t>TP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58184" y="5577840"/>
            <a:ext cx="12344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</a:rPr>
              <a:t>significant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38344" y="5577840"/>
            <a:ext cx="12801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</a:rPr>
              <a:t>significant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742432"/>
            <a:ext cx="6355080" cy="173736"/>
          </a:xfrm>
          <a:prstGeom prst="rect">
            <a:avLst/>
          </a:prstGeom>
          <a:solidFill>
            <a:srgbClr val="1F28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3504" y="5760720"/>
            <a:ext cx="22860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floodplain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35224" y="5760720"/>
            <a:ext cx="7772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2C55E"/>
                </a:solidFill>
              </a:rPr>
              <a:t>TP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58184" y="5760720"/>
            <a:ext cx="12344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</a:rPr>
              <a:t>moderate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38344" y="5760720"/>
            <a:ext cx="12801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</a:rPr>
              <a:t>moderate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5925312"/>
            <a:ext cx="6355080" cy="173736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3504" y="5943600"/>
            <a:ext cx="22860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endangered_species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35224" y="5943600"/>
            <a:ext cx="7772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F4444"/>
                </a:solidFill>
              </a:rPr>
              <a:t>FP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58184" y="5943600"/>
            <a:ext cx="12344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</a:rPr>
              <a:t>significant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38344" y="5943600"/>
            <a:ext cx="12801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</a:rPr>
              <a:t>none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6108192"/>
            <a:ext cx="6355080" cy="173736"/>
          </a:xfrm>
          <a:prstGeom prst="rect">
            <a:avLst/>
          </a:prstGeom>
          <a:solidFill>
            <a:srgbClr val="1F28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3504" y="6126480"/>
            <a:ext cx="22860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prime_farmland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35224" y="6126480"/>
            <a:ext cx="7772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AB308"/>
                </a:solidFill>
              </a:rPr>
              <a:t>FN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58184" y="6126480"/>
            <a:ext cx="12344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</a:rPr>
              <a:t>none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38344" y="6126480"/>
            <a:ext cx="12801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</a:rPr>
              <a:t>moderate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6291072"/>
            <a:ext cx="6355080" cy="173736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3504" y="6309360"/>
            <a:ext cx="22860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environmental_justice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35224" y="6309360"/>
            <a:ext cx="7772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2C55E"/>
                </a:solidFill>
              </a:rPr>
              <a:t>TP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58184" y="6309360"/>
            <a:ext cx="12344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</a:rPr>
              <a:t>moderate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38344" y="6309360"/>
            <a:ext cx="12801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</a:rPr>
              <a:t>moderate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06640" y="1051560"/>
            <a:ext cx="4572000" cy="5577840"/>
          </a:xfrm>
          <a:prstGeom prst="rect">
            <a:avLst/>
          </a:prstGeom>
          <a:solidFill>
            <a:srgbClr val="2D3748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43800" y="353568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97316"/>
                </a:solidFill>
              </a:rPr>
              <a:t>[ Evaluation panel screenshot — score bars + methodology modal 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97316"/>
                </a:solidFill>
              </a:rPr>
              <a:t>Results — How Scores Are Calculated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005840"/>
            <a:ext cx="3566160" cy="5029200"/>
          </a:xfrm>
          <a:prstGeom prst="rect">
            <a:avLst/>
          </a:prstGeom>
          <a:solidFill>
            <a:srgbClr val="2D3748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005840"/>
            <a:ext cx="3566160" cy="502920"/>
          </a:xfrm>
          <a:prstGeom prst="rect">
            <a:avLst/>
          </a:prstGeom>
          <a:solidFill>
            <a:srgbClr val="3B82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04241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CATEGORY F1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17043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</a:rPr>
              <a:t>× 0.40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72768"/>
            <a:ext cx="3346704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8 fixed categories evaluated: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wetlands · air_quality · noise · traffic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env. justice · species · floodplain · farmland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TP  agent flagged  AND  EIS confirms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FP  agent flagged  BUT  EIS says none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FN  EIS confirms   BUT  agent missed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200" b="1">
                <a:solidFill>
                  <a:srgbClr val="D1D5DB"/>
                </a:solidFill>
              </a:rPr>
              <a:t>Precision = TP / (TP+FP)</a:t>
            </a:r>
          </a:p>
          <a:p>
            <a:pPr>
              <a:spcBef>
                <a:spcPts val="300"/>
              </a:spcBef>
            </a:pPr>
            <a:r>
              <a:rPr sz="1200" b="1">
                <a:solidFill>
                  <a:srgbClr val="D1D5DB"/>
                </a:solidFill>
              </a:rPr>
              <a:t>Recall    = TP / (TP+FN)</a:t>
            </a:r>
          </a:p>
          <a:p>
            <a:pPr>
              <a:spcBef>
                <a:spcPts val="300"/>
              </a:spcBef>
            </a:pPr>
            <a:r>
              <a:rPr sz="1200" b="1">
                <a:solidFill>
                  <a:srgbClr val="D1D5DB"/>
                </a:solidFill>
              </a:rPr>
              <a:t>F1 = 2·P·R / (P+R)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5968" y="1005840"/>
            <a:ext cx="3566160" cy="5029200"/>
          </a:xfrm>
          <a:prstGeom prst="rect">
            <a:avLst/>
          </a:prstGeom>
          <a:solidFill>
            <a:srgbClr val="2D3748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5968" y="1005840"/>
            <a:ext cx="3566160" cy="502920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7408" y="104241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SIGNIFICANCE ACCURACY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117043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</a:rPr>
              <a:t>× 0.40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1572768"/>
            <a:ext cx="3346704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Ordinal significance scale: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  significant = 3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  moderate    = 2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  minimal     = 1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  none        = 0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For each matched category: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  |diff| = 0  →  1.0  (exact match)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  |diff| = 1  →  0.5  (off by one)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  |diff| ≥ 2  →  0.0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Score = mean across all pairs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1005840"/>
            <a:ext cx="3566160" cy="5029200"/>
          </a:xfrm>
          <a:prstGeom prst="rect">
            <a:avLst/>
          </a:prstGeom>
          <a:solidFill>
            <a:srgbClr val="2D3748"/>
          </a:solidFill>
          <a:ln w="254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1005840"/>
            <a:ext cx="3566160" cy="502920"/>
          </a:xfrm>
          <a:prstGeom prst="rect">
            <a:avLst/>
          </a:prstGeom>
          <a:solidFill>
            <a:srgbClr val="EAB30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74736" y="104241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SEMANTIC COVERAGE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9376" y="117043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</a:rPr>
              <a:t>× 0.20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1572768"/>
            <a:ext cx="3346704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Measures: does the agent's reasoning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align with the actual EIS text?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Up to 10 reasoning snippets embedded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→ cosine similarity vs. EIS chunks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200" b="1">
                <a:solidFill>
                  <a:srgbClr val="D1D5DB"/>
                </a:solidFill>
              </a:rPr>
              <a:t>score = mean(max cosine similarity)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        over all reasoning snippets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No LLM — pure vector math</a:t>
            </a:r>
          </a:p>
          <a:p>
            <a:pPr>
              <a:spcBef>
                <a:spcPts val="300"/>
              </a:spcBef>
            </a:pPr>
            <a:r>
              <a:rPr sz="1200" b="0">
                <a:solidFill>
                  <a:srgbClr val="D1D5DB"/>
                </a:solidFill>
              </a:rPr>
              <a:t>on pre-stored embeddings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17220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97316"/>
                </a:solidFill>
              </a:rPr>
              <a:t>OVERALL  =  (F1 × 0.40)  +  (Significance Accuracy × 0.40)  +  (Semantic Coverage × 0.20)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005840"/>
            <a:ext cx="5303520" cy="329184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051560"/>
            <a:ext cx="50840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</a:rPr>
              <a:t>CURRENT SHORTCOMINGS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89888"/>
            <a:ext cx="53035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Ground truth is LLM-extracted, not annotated by humans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LLM misread of EIS → inflated scores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Only 8 fixed categories scored (F1 scope)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Project-specific impacts invisible to metric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Semantic similarity ≠ factual accuracy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Style match can score high without correct reasoning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LLM non-determinism — same run, different score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05840"/>
            <a:ext cx="5394960" cy="329184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051560"/>
            <a:ext cx="51755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FUTURE IMPROVEMENTS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89888"/>
            <a:ext cx="53949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Human-annotated ground truth corpus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Domain experts review LLM extractions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Dynamic category set per project type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Replace 8 fixed with project-driven taxonomy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LLM-as-Judge for reasoning quality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Separate evaluator scores each reasoning chain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FFFFF"/>
                </a:solidFill>
              </a:rPr>
              <a:t>▸ Run-level repeatability tracking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8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9731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430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97316"/>
                </a:solidFill>
              </a:rP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11064240" cy="22860"/>
          </a:xfrm>
          <a:prstGeom prst="rect">
            <a:avLst/>
          </a:prstGeom>
          <a:solidFill>
            <a:srgbClr val="3D4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F97316"/>
                </a:solidFill>
              </a:rPr>
              <a:t>▸ Weeks → minutes  for NEPA screening-level review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5 agents: parse · data · regulations · matrix · report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Every cell cites the regulation and data behind it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97316"/>
                </a:solidFill>
              </a:rPr>
              <a:t>▸ Confidence-aware — flags uncertainty for human review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5-tier model tied to actual data quality (not vibes)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F97316"/>
                </a:solidFill>
              </a:rPr>
              <a:t>▸ Quantitatively evaluated against real EIS documents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F1 + Significance Accuracy + Semantic Coverage</a:t>
            </a:r>
          </a:p>
          <a:p>
            <a:pPr>
              <a:spcBef>
                <a:spcPts val="200"/>
              </a:spcBef>
            </a:pPr>
            <a:r>
              <a:rPr sz="1400" b="0">
                <a:solidFill>
                  <a:srgbClr val="D1D5DB"/>
                </a:solidFill>
              </a:rPr>
              <a:t>    · Per-category TP/FP/FN breakdown guides improvement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577840"/>
            <a:ext cx="11064240" cy="384048"/>
          </a:xfrm>
          <a:prstGeom prst="rect">
            <a:avLst/>
          </a:prstGeom>
          <a:solidFill>
            <a:srgbClr val="2D374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63270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1D5DB"/>
                </a:solidFill>
              </a:rPr>
              <a:t>Future:  human-annotated GT  ·  dynamic categories  ·  LLM-as-Judge  ·  multi-project dashboard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MU PPT Theme">
  <a:themeElements>
    <a:clrScheme name="Figma">
      <a:dk1>
        <a:srgbClr val="000000"/>
      </a:dk1>
      <a:lt1>
        <a:srgbClr val="FFFFFF"/>
      </a:lt1>
      <a:dk2>
        <a:srgbClr val="1F2833"/>
      </a:dk2>
      <a:lt2>
        <a:srgbClr val="E5E7EB"/>
      </a:lt2>
      <a:accent1>
        <a:srgbClr val="F97316"/>
      </a:accent1>
      <a:accent2>
        <a:srgbClr val="EF4444"/>
      </a:accent2>
      <a:accent3>
        <a:srgbClr val="EAB308"/>
      </a:accent3>
      <a:accent4>
        <a:srgbClr val="22C55E"/>
      </a:accent4>
      <a:accent5>
        <a:srgbClr val="06B6D3"/>
      </a:accent5>
      <a:accent6>
        <a:srgbClr val="D946EF"/>
      </a:accent6>
      <a:hlink>
        <a:srgbClr val="3B82F6"/>
      </a:hlink>
      <a:folHlink>
        <a:srgbClr val="A855F7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45 Helvetica Light" pitchFamily="-110" charset="0"/>
            <a:ea typeface="Geneva" pitchFamily="-110" charset="-128"/>
            <a:cs typeface="Geneva" pitchFamily="-11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45 Helvetica Light" pitchFamily="-110" charset="0"/>
            <a:ea typeface="Geneva" pitchFamily="-110" charset="-128"/>
            <a:cs typeface="Geneva" pitchFamily="-110" charset="-128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62817F12-EA18-574E-90B7-E96DCC192F96}" vid="{D134E728-AEC4-1C41-A8F9-44315560EBB3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</TotalTime>
  <Words>237</Words>
  <Application>Microsoft Macintosh PowerPoint</Application>
  <PresentationFormat>On-screen Show (16:9)</PresentationFormat>
  <Paragraphs>45</Paragraphs>
  <Slides>8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8" baseType="lpstr">
      <vt:lpstr>ＭＳ Ｐゴシック</vt:lpstr>
      <vt:lpstr>.AppleSystemUIFont</vt:lpstr>
      <vt:lpstr>45 Helvetica Light</vt:lpstr>
      <vt:lpstr>Arial</vt:lpstr>
      <vt:lpstr>DM Sans 14pt</vt:lpstr>
      <vt:lpstr>Open Sans</vt:lpstr>
      <vt:lpstr>Open Sans Light</vt:lpstr>
      <vt:lpstr>Open Sans Regular</vt:lpstr>
      <vt:lpstr>Times</vt:lpstr>
      <vt:lpstr>CMU PPT Theme</vt:lpstr>
      <vt:lpstr>PowerPoint Presentation</vt:lpstr>
      <vt:lpstr>Background</vt:lpstr>
      <vt:lpstr>Problem Statement</vt:lpstr>
      <vt:lpstr>Methodology</vt:lpstr>
      <vt:lpstr>Results</vt:lpstr>
      <vt:lpstr>Discussion</vt:lpstr>
      <vt:lpstr>Conclusion</vt:lpstr>
      <vt:lpstr>Example Slide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Pak</dc:creator>
  <cp:lastModifiedBy>Peter Pak</cp:lastModifiedBy>
  <cp:revision>1</cp:revision>
  <cp:lastPrinted>2016-12-06T18:52:42Z</cp:lastPrinted>
  <dcterms:created xsi:type="dcterms:W3CDTF">2026-04-03T15:47:07Z</dcterms:created>
  <dcterms:modified xsi:type="dcterms:W3CDTF">2026-04-03T15:58:01Z</dcterms:modified>
</cp:coreProperties>
</file>